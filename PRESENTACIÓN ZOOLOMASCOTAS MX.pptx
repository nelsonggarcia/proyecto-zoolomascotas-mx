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ms-office.chartcolorstyle+xml" PartName="/ppt/charts/colors2.xml"/>
  <Override ContentType="application/vnd.ms-office.chartcolorstyle+xml" PartName="/ppt/charts/colors3.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1.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ms-office.chartstyle+xml" PartName="/ppt/charts/style3.xml"/>
  <Override ContentType="application/vnd.ms-office.chartstyle+xml" PartName="/ppt/charts/style1.xml"/>
  <Override ContentType="application/vnd.ms-office.chartstyle+xml" PartName="/ppt/charts/style2.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6858000" cx="12192000"/>
  <p:notesSz cx="6858000" cy="9144000"/>
  <p:embeddedFontLst>
    <p:embeddedFont>
      <p:font typeface="Garamond"/>
      <p:regular r:id="rId35"/>
      <p:bold r:id="rId36"/>
      <p:italic r:id="rId37"/>
      <p:boldItalic r:id="rId38"/>
    </p:embeddedFont>
    <p:embeddedFont>
      <p:font typeface="Work Sans"/>
      <p:bold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95">
          <p15:clr>
            <a:srgbClr val="A4A3A4"/>
          </p15:clr>
        </p15:guide>
        <p15:guide id="2" pos="3840">
          <p15:clr>
            <a:srgbClr val="A4A3A4"/>
          </p15:clr>
        </p15:guide>
        <p15:guide id="3" orient="horz" pos="187">
          <p15:clr>
            <a:srgbClr val="A4A3A4"/>
          </p15:clr>
        </p15:guide>
      </p15:sldGuideLst>
    </p:ext>
    <p:ext uri="GoogleSlidesCustomDataVersion2">
      <go:slidesCustomData xmlns:go="http://customooxmlschemas.google.com/" r:id="rId41" roundtripDataSignature="AMtx7mimqwXchoiVaPpEPqzFypOZdU0l8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95" orient="horz"/>
        <p:guide pos="3840"/>
        <p:guide pos="18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WorkSans-boldItalic.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Garamond-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Garamond-italic.fntdata"/><Relationship Id="rId14" Type="http://schemas.openxmlformats.org/officeDocument/2006/relationships/slide" Target="slides/slide9.xml"/><Relationship Id="rId36" Type="http://schemas.openxmlformats.org/officeDocument/2006/relationships/font" Target="fonts/Garamond-bold.fntdata"/><Relationship Id="rId17" Type="http://schemas.openxmlformats.org/officeDocument/2006/relationships/slide" Target="slides/slide12.xml"/><Relationship Id="rId39" Type="http://schemas.openxmlformats.org/officeDocument/2006/relationships/font" Target="fonts/WorkSans-bold.fntdata"/><Relationship Id="rId16" Type="http://schemas.openxmlformats.org/officeDocument/2006/relationships/slide" Target="slides/slide11.xml"/><Relationship Id="rId38" Type="http://schemas.openxmlformats.org/officeDocument/2006/relationships/font" Target="fonts/Garamond-boldItalic.fntdata"/><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D:\Desktop\ZAIDA\PROYECTO%20ZOOLOMASCOTAS%20MX\ENCUESTA%20ZOOLOMASCOTAS%20MX.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D:\Desktop\ZAIDA\PROYECTO%20ZOOLOMASCOTAS%20MX\ENCUESTA%20ZOOLOMASCOTAS%20MX.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file:///D:\Desktop\ZAIDA\PROYECTO%20ZOOLOMASCOTAS%20MX\ENCUESTA%20ZOOLOMASCOTAS%20MX.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bar"/>
        <c:grouping val="percentStacked"/>
        <c:varyColors val="0"/>
        <c:ser>
          <c:idx val="0"/>
          <c:order val="0"/>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es-C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'Graficos '!$A$62:$I$62</c:f>
              <c:strCache>
                <c:ptCount val="8"/>
                <c:pt idx="5">
                  <c:v>WHATSAPP</c:v>
                </c:pt>
                <c:pt idx="6">
                  <c:v>PRESENCIAL</c:v>
                </c:pt>
                <c:pt idx="7">
                  <c:v>TELEFÓNICAMENTE</c:v>
                </c:pt>
              </c:strCache>
              <c:extLst/>
            </c:strRef>
          </c:cat>
          <c:val>
            <c:numRef>
              <c:f>'Graficos '!$A$63:$I$63</c:f>
              <c:numCache>
                <c:formatCode>General</c:formatCode>
                <c:ptCount val="8"/>
                <c:pt idx="5">
                  <c:v>31</c:v>
                </c:pt>
                <c:pt idx="6">
                  <c:v>7</c:v>
                </c:pt>
                <c:pt idx="7">
                  <c:v>2</c:v>
                </c:pt>
              </c:numCache>
              <c:extLst/>
            </c:numRef>
          </c:val>
          <c:extLst>
            <c:ext xmlns:c16="http://schemas.microsoft.com/office/drawing/2014/chart" uri="{C3380CC4-5D6E-409C-BE32-E72D297353CC}">
              <c16:uniqueId val="{00000000-45A5-43BA-898F-2AA3578E6539}"/>
            </c:ext>
          </c:extLst>
        </c:ser>
        <c:dLbls>
          <c:dLblPos val="ctr"/>
          <c:showLegendKey val="0"/>
          <c:showVal val="1"/>
          <c:showCatName val="0"/>
          <c:showSerName val="0"/>
          <c:showPercent val="0"/>
          <c:showBubbleSize val="0"/>
        </c:dLbls>
        <c:gapWidth val="79"/>
        <c:overlap val="100"/>
        <c:axId val="1920447647"/>
        <c:axId val="1920466783"/>
      </c:barChart>
      <c:catAx>
        <c:axId val="192044764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cap="all" spc="120" normalizeH="0" baseline="0">
                <a:solidFill>
                  <a:schemeClr val="tx1">
                    <a:lumMod val="65000"/>
                    <a:lumOff val="35000"/>
                  </a:schemeClr>
                </a:solidFill>
                <a:latin typeface="+mn-lt"/>
                <a:ea typeface="+mn-ea"/>
                <a:cs typeface="+mn-cs"/>
              </a:defRPr>
            </a:pPr>
            <a:endParaRPr lang="es-CO"/>
          </a:p>
        </c:txPr>
        <c:crossAx val="1920466783"/>
        <c:crosses val="autoZero"/>
        <c:auto val="1"/>
        <c:lblAlgn val="ctr"/>
        <c:lblOffset val="100"/>
        <c:noMultiLvlLbl val="0"/>
      </c:catAx>
      <c:valAx>
        <c:axId val="1920466783"/>
        <c:scaling>
          <c:orientation val="minMax"/>
        </c:scaling>
        <c:delete val="1"/>
        <c:axPos val="b"/>
        <c:numFmt formatCode="0%" sourceLinked="1"/>
        <c:majorTickMark val="none"/>
        <c:minorTickMark val="none"/>
        <c:tickLblPos val="nextTo"/>
        <c:crossAx val="192044764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O"/>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1" i="0" u="none" strike="noStrike" kern="1200" cap="all" spc="50" baseline="0">
              <a:solidFill>
                <a:schemeClr val="tx1">
                  <a:lumMod val="65000"/>
                  <a:lumOff val="35000"/>
                </a:schemeClr>
              </a:solidFill>
              <a:latin typeface="+mn-lt"/>
              <a:ea typeface="+mn-ea"/>
              <a:cs typeface="+mn-cs"/>
            </a:defRPr>
          </a:pPr>
          <a:endParaRPr lang="es-CO"/>
        </a:p>
      </c:txPr>
    </c:title>
    <c:autoTitleDeleted val="0"/>
    <c:plotArea>
      <c:layout/>
      <c:pieChart>
        <c:varyColors val="1"/>
        <c:ser>
          <c:idx val="0"/>
          <c:order val="0"/>
          <c:tx>
            <c:strRef>
              <c:f>'Graficos '!$A$85</c:f>
              <c:strCache>
                <c:ptCount val="1"/>
              </c:strCache>
            </c:strRef>
          </c:tx>
          <c:dPt>
            <c:idx val="0"/>
            <c:bubble3D val="0"/>
            <c:spPr>
              <a:solidFill>
                <a:schemeClr val="accent6"/>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4DB1-40C1-A2C0-666332BAFACC}"/>
              </c:ext>
            </c:extLst>
          </c:dPt>
          <c:dPt>
            <c:idx val="1"/>
            <c:bubble3D val="0"/>
            <c:spPr>
              <a:solidFill>
                <a:schemeClr val="accent5"/>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4DB1-40C1-A2C0-666332BAFACC}"/>
              </c:ext>
            </c:extLst>
          </c:dPt>
          <c:dPt>
            <c:idx val="2"/>
            <c:bubble3D val="0"/>
            <c:spPr>
              <a:solidFill>
                <a:schemeClr val="accent4"/>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4DB1-40C1-A2C0-666332BAFACC}"/>
              </c:ext>
            </c:extLst>
          </c:dPt>
          <c:dLbls>
            <c:dLbl>
              <c:idx val="0"/>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fld id="{4FFACAF7-C96B-4DEF-BE26-A8D9242E22A3}" type="PERCENTAGE">
                      <a:rPr lang="en-US" sz="2000"/>
                      <a:pPr>
                        <a:defRPr/>
                      </a:pPr>
                      <a:t>[PORCENTAJE]</a:t>
                    </a:fld>
                    <a:endParaRPr lang="es-CO"/>
                  </a:p>
                </c:rich>
              </c:tx>
              <c:spPr>
                <a:noFill/>
                <a:ln>
                  <a:noFill/>
                </a:ln>
                <a:effectLst/>
              </c:spPr>
              <c:txPr>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endParaRPr lang="es-CO"/>
                </a:p>
              </c:txPr>
              <c:dLblPos val="inEnd"/>
              <c:showLegendKey val="0"/>
              <c:showVal val="0"/>
              <c:showCatName val="0"/>
              <c:showSerName val="0"/>
              <c:showPercent val="1"/>
              <c:showBubbleSize val="0"/>
              <c:extLst>
                <c:ext xmlns:c15="http://schemas.microsoft.com/office/drawing/2012/chart" uri="{CE6537A1-D6FC-4f65-9D91-7224C49458BB}">
                  <c15:layout>
                    <c:manualLayout>
                      <c:w val="9.6231456348071231E-2"/>
                      <c:h val="0.20177213527044979"/>
                    </c:manualLayout>
                  </c15:layout>
                  <c15:dlblFieldTable/>
                  <c15:showDataLabelsRange val="0"/>
                </c:ext>
                <c:ext xmlns:c16="http://schemas.microsoft.com/office/drawing/2014/chart" uri="{C3380CC4-5D6E-409C-BE32-E72D297353CC}">
                  <c16:uniqueId val="{00000001-4DB1-40C1-A2C0-666332BAFACC}"/>
                </c:ext>
              </c:extLst>
            </c:dLbl>
            <c:dLbl>
              <c:idx val="1"/>
              <c:spPr>
                <a:noFill/>
                <a:ln>
                  <a:noFill/>
                </a:ln>
                <a:effectLst/>
              </c:spPr>
              <c:txPr>
                <a:bodyPr rot="0" spcFirstLastPara="1" vertOverflow="ellipsis" vert="horz" wrap="square" lIns="38100" tIns="19050" rIns="38100" bIns="19050" anchor="ctr" anchorCtr="1">
                  <a:spAutoFit/>
                </a:bodyPr>
                <a:lstStyle/>
                <a:p>
                  <a:pPr>
                    <a:defRPr lang="en-US" sz="2000" b="1" i="0" u="none" strike="noStrike" kern="1200" baseline="0">
                      <a:solidFill>
                        <a:prstClr val="white"/>
                      </a:solidFill>
                      <a:latin typeface="+mn-lt"/>
                      <a:ea typeface="+mn-ea"/>
                      <a:cs typeface="+mn-cs"/>
                    </a:defRPr>
                  </a:pPr>
                  <a:endParaRPr lang="es-CO"/>
                </a:p>
              </c:txPr>
              <c:dLblPos val="inEnd"/>
              <c:showLegendKey val="0"/>
              <c:showVal val="0"/>
              <c:showCatName val="0"/>
              <c:showSerName val="0"/>
              <c:showPercent val="1"/>
              <c:showBubbleSize val="0"/>
              <c:extLst>
                <c:ext xmlns:c16="http://schemas.microsoft.com/office/drawing/2014/chart" uri="{C3380CC4-5D6E-409C-BE32-E72D297353CC}">
                  <c16:uniqueId val="{00000003-4DB1-40C1-A2C0-666332BAFACC}"/>
                </c:ext>
              </c:extLst>
            </c:dLbl>
            <c:dLbl>
              <c:idx val="2"/>
              <c:spPr>
                <a:noFill/>
                <a:ln>
                  <a:noFill/>
                </a:ln>
                <a:effectLst/>
              </c:spPr>
              <c:txPr>
                <a:bodyPr rot="0" spcFirstLastPara="1" vertOverflow="ellipsis" vert="horz" wrap="square" lIns="38100" tIns="19050" rIns="38100" bIns="19050" anchor="ctr" anchorCtr="1">
                  <a:spAutoFit/>
                </a:bodyPr>
                <a:lstStyle/>
                <a:p>
                  <a:pPr>
                    <a:defRPr lang="en-US" sz="2000" b="1" i="0" u="none" strike="noStrike" kern="1200" baseline="0">
                      <a:solidFill>
                        <a:prstClr val="white"/>
                      </a:solidFill>
                      <a:latin typeface="+mn-lt"/>
                      <a:ea typeface="+mn-ea"/>
                      <a:cs typeface="+mn-cs"/>
                    </a:defRPr>
                  </a:pPr>
                  <a:endParaRPr lang="es-CO"/>
                </a:p>
              </c:txPr>
              <c:dLblPos val="inEnd"/>
              <c:showLegendKey val="0"/>
              <c:showVal val="0"/>
              <c:showCatName val="0"/>
              <c:showSerName val="0"/>
              <c:showPercent val="1"/>
              <c:showBubbleSize val="0"/>
              <c:extLst>
                <c:ext xmlns:c16="http://schemas.microsoft.com/office/drawing/2014/chart" uri="{C3380CC4-5D6E-409C-BE32-E72D297353CC}">
                  <c16:uniqueId val="{00000005-4DB1-40C1-A2C0-666332BAFACC}"/>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s-CO"/>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'Graficos '!$G$84:$I$84</c:f>
              <c:strCache>
                <c:ptCount val="3"/>
                <c:pt idx="0">
                  <c:v>PELUQUERÍA</c:v>
                </c:pt>
                <c:pt idx="1">
                  <c:v>CONSULTA</c:v>
                </c:pt>
                <c:pt idx="2">
                  <c:v>HOSPITALIZACIÓN</c:v>
                </c:pt>
              </c:strCache>
              <c:extLst/>
            </c:strRef>
          </c:cat>
          <c:val>
            <c:numRef>
              <c:f>'Graficos '!$G$85:$I$85</c:f>
              <c:numCache>
                <c:formatCode>General</c:formatCode>
                <c:ptCount val="3"/>
                <c:pt idx="0">
                  <c:v>13</c:v>
                </c:pt>
                <c:pt idx="1">
                  <c:v>27</c:v>
                </c:pt>
                <c:pt idx="2">
                  <c:v>0</c:v>
                </c:pt>
              </c:numCache>
              <c:extLst/>
            </c:numRef>
          </c:val>
          <c:extLst>
            <c:ext xmlns:c16="http://schemas.microsoft.com/office/drawing/2014/chart" uri="{C3380CC4-5D6E-409C-BE32-E72D297353CC}">
              <c16:uniqueId val="{00000006-4DB1-40C1-A2C0-666332BAFACC}"/>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t"/>
      <c:legendEntry>
        <c:idx val="0"/>
        <c:txPr>
          <a:bodyPr rot="0" spcFirstLastPara="1" vertOverflow="ellipsis" vert="horz" wrap="square" anchor="ctr" anchorCtr="1"/>
          <a:lstStyle/>
          <a:p>
            <a:pPr>
              <a:defRPr lang="en-US" sz="1800" b="0" i="0" u="none" strike="noStrike" kern="1200" baseline="0">
                <a:solidFill>
                  <a:schemeClr val="tx1">
                    <a:lumMod val="65000"/>
                    <a:lumOff val="35000"/>
                  </a:schemeClr>
                </a:solidFill>
                <a:latin typeface="+mn-lt"/>
                <a:ea typeface="+mn-ea"/>
                <a:cs typeface="+mn-cs"/>
              </a:defRPr>
            </a:pPr>
            <a:endParaRPr lang="es-CO"/>
          </a:p>
        </c:txPr>
      </c:legendEntry>
      <c:legendEntry>
        <c:idx val="1"/>
        <c:txPr>
          <a:bodyPr rot="0" spcFirstLastPara="1" vertOverflow="ellipsis" vert="horz" wrap="square" anchor="ctr" anchorCtr="1"/>
          <a:lstStyle/>
          <a:p>
            <a:pPr>
              <a:defRPr lang="en-US" sz="1800" b="0" i="0" u="none" strike="noStrike" kern="1200" baseline="0">
                <a:solidFill>
                  <a:schemeClr val="tx1">
                    <a:lumMod val="65000"/>
                    <a:lumOff val="35000"/>
                  </a:schemeClr>
                </a:solidFill>
                <a:latin typeface="+mn-lt"/>
                <a:ea typeface="+mn-ea"/>
                <a:cs typeface="+mn-cs"/>
              </a:defRPr>
            </a:pPr>
            <a:endParaRPr lang="es-CO"/>
          </a:p>
        </c:txPr>
      </c:legendEntry>
      <c:legendEntry>
        <c:idx val="2"/>
        <c:txPr>
          <a:bodyPr rot="0" spcFirstLastPara="1" vertOverflow="ellipsis" vert="horz" wrap="square" anchor="ctr" anchorCtr="1"/>
          <a:lstStyle/>
          <a:p>
            <a:pPr>
              <a:defRPr lang="en-US" sz="1800" b="0" i="0" u="none" strike="noStrike" kern="1200" baseline="0">
                <a:solidFill>
                  <a:schemeClr val="tx1">
                    <a:lumMod val="65000"/>
                    <a:lumOff val="35000"/>
                  </a:schemeClr>
                </a:solidFill>
                <a:latin typeface="+mn-lt"/>
                <a:ea typeface="+mn-ea"/>
                <a:cs typeface="+mn-cs"/>
              </a:defRPr>
            </a:pPr>
            <a:endParaRPr lang="es-CO"/>
          </a:p>
        </c:txPr>
      </c:legendEntry>
      <c:overlay val="0"/>
      <c:spPr>
        <a:noFill/>
        <a:ln>
          <a:noFill/>
        </a:ln>
        <a:effectLst/>
      </c:spPr>
      <c:txPr>
        <a:bodyPr rot="0" spcFirstLastPara="1" vertOverflow="ellipsis" vert="horz" wrap="square" anchor="ctr" anchorCtr="1"/>
        <a:lstStyle/>
        <a:p>
          <a:pPr>
            <a:defRPr lang="en-US" sz="20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spPr>
            <a:solidFill>
              <a:schemeClr val="accent2"/>
            </a:solidFill>
            <a:ln>
              <a:noFill/>
            </a:ln>
            <a:effectLst/>
            <a:sp3d/>
          </c:spPr>
          <c:invertIfNegative val="0"/>
          <c:dLbls>
            <c:dLbl>
              <c:idx val="0"/>
              <c:layout>
                <c:manualLayout>
                  <c:x val="1.6723474434435233E-2"/>
                  <c:y val="4.51571254625346E-2"/>
                </c:manualLayout>
              </c:layout>
              <c:tx>
                <c:rich>
                  <a:bodyPr/>
                  <a:lstStyle/>
                  <a:p>
                    <a:fld id="{87E32BC8-DD5B-4419-B093-8942BE6C891E}" type="VALUE">
                      <a:rPr lang="en-US" sz="3000" b="1"/>
                      <a:pPr/>
                      <a:t>[VALOR]</a:t>
                    </a:fld>
                    <a:endParaRPr lang="es-CO"/>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BAFF-4608-AEC6-3DD67B6795CA}"/>
                </c:ext>
              </c:extLst>
            </c:dLbl>
            <c:dLbl>
              <c:idx val="1"/>
              <c:layout>
                <c:manualLayout>
                  <c:x val="2.8668813316174685E-2"/>
                  <c:y val="3.261347950071934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AFF-4608-AEC6-3DD67B6795CA}"/>
                </c:ext>
              </c:extLst>
            </c:dLbl>
            <c:spPr>
              <a:noFill/>
              <a:ln>
                <a:noFill/>
              </a:ln>
              <a:effectLst/>
            </c:spPr>
            <c:txPr>
              <a:bodyPr rot="0" spcFirstLastPara="1" vertOverflow="ellipsis" vert="horz" wrap="square" lIns="38100" tIns="19050" rIns="38100" bIns="19050" anchor="ctr" anchorCtr="1">
                <a:spAutoFit/>
              </a:bodyPr>
              <a:lstStyle/>
              <a:p>
                <a:pPr>
                  <a:defRPr sz="3000"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 '!$A$16:$H$16</c:f>
              <c:strCache>
                <c:ptCount val="2"/>
                <c:pt idx="0">
                  <c:v>SI</c:v>
                </c:pt>
                <c:pt idx="1">
                  <c:v>NO</c:v>
                </c:pt>
              </c:strCache>
              <c:extLst/>
            </c:strRef>
          </c:cat>
          <c:val>
            <c:numRef>
              <c:f>'Graficos '!$A$17:$H$17</c:f>
              <c:numCache>
                <c:formatCode>General</c:formatCode>
                <c:ptCount val="2"/>
                <c:pt idx="0">
                  <c:v>36</c:v>
                </c:pt>
                <c:pt idx="1">
                  <c:v>4</c:v>
                </c:pt>
              </c:numCache>
              <c:extLst/>
            </c:numRef>
          </c:val>
          <c:extLst>
            <c:ext xmlns:c16="http://schemas.microsoft.com/office/drawing/2014/chart" uri="{C3380CC4-5D6E-409C-BE32-E72D297353CC}">
              <c16:uniqueId val="{00000000-BAFF-4608-AEC6-3DD67B6795CA}"/>
            </c:ext>
          </c:extLst>
        </c:ser>
        <c:dLbls>
          <c:showLegendKey val="0"/>
          <c:showVal val="1"/>
          <c:showCatName val="0"/>
          <c:showSerName val="0"/>
          <c:showPercent val="0"/>
          <c:showBubbleSize val="0"/>
        </c:dLbls>
        <c:gapWidth val="150"/>
        <c:shape val="box"/>
        <c:axId val="1833068464"/>
        <c:axId val="1833069296"/>
        <c:axId val="0"/>
      </c:bar3DChart>
      <c:catAx>
        <c:axId val="183306846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3000" b="1" i="0" u="none" strike="noStrike" kern="1200" baseline="0">
                <a:solidFill>
                  <a:schemeClr val="tx1">
                    <a:lumMod val="75000"/>
                    <a:lumOff val="25000"/>
                  </a:schemeClr>
                </a:solidFill>
                <a:latin typeface="+mn-lt"/>
                <a:ea typeface="+mn-ea"/>
                <a:cs typeface="+mn-cs"/>
              </a:defRPr>
            </a:pPr>
            <a:endParaRPr lang="es-CO"/>
          </a:p>
        </c:txPr>
        <c:crossAx val="1833069296"/>
        <c:crosses val="autoZero"/>
        <c:auto val="1"/>
        <c:lblAlgn val="ctr"/>
        <c:lblOffset val="100"/>
        <c:noMultiLvlLbl val="0"/>
      </c:catAx>
      <c:valAx>
        <c:axId val="1833069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s-CO"/>
          </a:p>
        </c:txPr>
        <c:crossAx val="183306846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O"/>
    </a:p>
  </c:txPr>
  <c:externalData r:id="rId3">
    <c:autoUpdate val="0"/>
  </c:externalData>
</c:chartSpace>
</file>

<file path=ppt/charts/colors1.xml><?xml version="1.0" encoding="utf-8"?>
<cs:colorStyle xmlns:cs="http://schemas.microsoft.com/office/drawing/2012/chartStyle" xmlns:a="http://schemas.openxmlformats.org/drawingml/2006/main" meth="withinLinear" id="19">
  <a:schemeClr val="accent6"/>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5" name="Shape 15"/>
        <p:cNvGrpSpPr/>
        <p:nvPr/>
      </p:nvGrpSpPr>
      <p:grpSpPr>
        <a:xfrm>
          <a:off x="0" y="0"/>
          <a:ext cx="0" cy="0"/>
          <a:chOff x="0" y="0"/>
          <a:chExt cx="0" cy="0"/>
        </a:xfrm>
      </p:grpSpPr>
      <p:sp>
        <p:nvSpPr>
          <p:cNvPr id="16" name="Google Shape;1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9" name="Shape 19"/>
        <p:cNvGrpSpPr/>
        <p:nvPr/>
      </p:nvGrpSpPr>
      <p:grpSpPr>
        <a:xfrm>
          <a:off x="0" y="0"/>
          <a:ext cx="0" cy="0"/>
          <a:chOff x="0" y="0"/>
          <a:chExt cx="0" cy="0"/>
        </a:xfrm>
      </p:grpSpPr>
      <p:sp>
        <p:nvSpPr>
          <p:cNvPr id="20" name="Google Shape;20;p3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5" name="Shape 25"/>
        <p:cNvGrpSpPr/>
        <p:nvPr/>
      </p:nvGrpSpPr>
      <p:grpSpPr>
        <a:xfrm>
          <a:off x="0" y="0"/>
          <a:ext cx="0" cy="0"/>
          <a:chOff x="0" y="0"/>
          <a:chExt cx="0" cy="0"/>
        </a:xfrm>
      </p:grpSpPr>
      <p:sp>
        <p:nvSpPr>
          <p:cNvPr id="26" name="Google Shape;26;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1" name="Shape 31"/>
        <p:cNvGrpSpPr/>
        <p:nvPr/>
      </p:nvGrpSpPr>
      <p:grpSpPr>
        <a:xfrm>
          <a:off x="0" y="0"/>
          <a:ext cx="0" cy="0"/>
          <a:chOff x="0" y="0"/>
          <a:chExt cx="0" cy="0"/>
        </a:xfrm>
      </p:grpSpPr>
      <p:sp>
        <p:nvSpPr>
          <p:cNvPr id="32" name="Google Shape;32;p3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7" name="Shape 37"/>
        <p:cNvGrpSpPr/>
        <p:nvPr/>
      </p:nvGrpSpPr>
      <p:grpSpPr>
        <a:xfrm>
          <a:off x="0" y="0"/>
          <a:ext cx="0" cy="0"/>
          <a:chOff x="0" y="0"/>
          <a:chExt cx="0" cy="0"/>
        </a:xfrm>
      </p:grpSpPr>
      <p:sp>
        <p:nvSpPr>
          <p:cNvPr id="38" name="Google Shape;38;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4" name="Shape 44"/>
        <p:cNvGrpSpPr/>
        <p:nvPr/>
      </p:nvGrpSpPr>
      <p:grpSpPr>
        <a:xfrm>
          <a:off x="0" y="0"/>
          <a:ext cx="0" cy="0"/>
          <a:chOff x="0" y="0"/>
          <a:chExt cx="0" cy="0"/>
        </a:xfrm>
      </p:grpSpPr>
      <p:sp>
        <p:nvSpPr>
          <p:cNvPr id="45" name="Google Shape;45;p3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3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3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3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3" name="Shape 53"/>
        <p:cNvGrpSpPr/>
        <p:nvPr/>
      </p:nvGrpSpPr>
      <p:grpSpPr>
        <a:xfrm>
          <a:off x="0" y="0"/>
          <a:ext cx="0" cy="0"/>
          <a:chOff x="0" y="0"/>
          <a:chExt cx="0" cy="0"/>
        </a:xfrm>
      </p:grpSpPr>
      <p:sp>
        <p:nvSpPr>
          <p:cNvPr id="54" name="Google Shape;54;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3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9"/>
          <p:cNvSpPr/>
          <p:nvPr>
            <p:ph idx="2" type="pic"/>
          </p:nvPr>
        </p:nvSpPr>
        <p:spPr>
          <a:xfrm>
            <a:off x="5183188" y="987425"/>
            <a:ext cx="6172200" cy="4873625"/>
          </a:xfrm>
          <a:prstGeom prst="rect">
            <a:avLst/>
          </a:prstGeom>
          <a:noFill/>
          <a:ln>
            <a:noFill/>
          </a:ln>
        </p:spPr>
      </p:sp>
      <p:sp>
        <p:nvSpPr>
          <p:cNvPr id="68" name="Google Shape;68;p3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4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84" name="Shape 84"/>
        <p:cNvGrpSpPr/>
        <p:nvPr/>
      </p:nvGrpSpPr>
      <p:grpSpPr>
        <a:xfrm>
          <a:off x="0" y="0"/>
          <a:ext cx="0" cy="0"/>
          <a:chOff x="0" y="0"/>
          <a:chExt cx="0" cy="0"/>
        </a:xfrm>
      </p:grpSpPr>
      <p:sp>
        <p:nvSpPr>
          <p:cNvPr id="85" name="Google Shape;85;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6.png"/><Relationship Id="rId4" Type="http://schemas.openxmlformats.org/officeDocument/2006/relationships/image" Target="../media/image3.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6.png"/><Relationship Id="rId4" Type="http://schemas.openxmlformats.org/officeDocument/2006/relationships/image" Target="../media/image17.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9.png"/><Relationship Id="rId4" Type="http://schemas.openxmlformats.org/officeDocument/2006/relationships/image" Target="../media/image9.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6.png"/><Relationship Id="rId4" Type="http://schemas.openxmlformats.org/officeDocument/2006/relationships/image" Target="../media/image7.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6.png"/><Relationship Id="rId4" Type="http://schemas.openxmlformats.org/officeDocument/2006/relationships/image" Target="../media/image2.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6.png"/><Relationship Id="rId4" Type="http://schemas.openxmlformats.org/officeDocument/2006/relationships/image" Target="../media/image18.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6.png"/><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6.png"/><Relationship Id="rId4" Type="http://schemas.openxmlformats.org/officeDocument/2006/relationships/image" Target="../media/image6.gif"/><Relationship Id="rId5" Type="http://schemas.openxmlformats.org/officeDocument/2006/relationships/image" Target="../media/image5.gif"/><Relationship Id="rId6" Type="http://schemas.openxmlformats.org/officeDocument/2006/relationships/image" Target="../media/image4.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6.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9.png"/><Relationship Id="rId4" Type="http://schemas.openxmlformats.org/officeDocument/2006/relationships/image" Target="../media/image10.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5.png"/><Relationship Id="rId4" Type="http://schemas.openxmlformats.org/officeDocument/2006/relationships/image" Target="../media/image12.gif"/><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image" Target="../media/image13.jpg"/><Relationship Id="rId5"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9.png"/><Relationship Id="rId4" Type="http://schemas.openxmlformats.org/officeDocument/2006/relationships/image" Target="../media/image15.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6.png"/><Relationship Id="rId4" Type="http://schemas.openxmlformats.org/officeDocument/2006/relationships/image" Target="../media/image20.png"/><Relationship Id="rId5" Type="http://schemas.openxmlformats.org/officeDocument/2006/relationships/image" Target="../media/image19.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6.png"/><Relationship Id="rId4" Type="http://schemas.openxmlformats.org/officeDocument/2006/relationships/chart" Target="../charts/chart1.xml"/><Relationship Id="rId5" Type="http://schemas.openxmlformats.org/officeDocument/2006/relationships/image" Target="../media/image21.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6.png"/><Relationship Id="rId4" Type="http://schemas.openxmlformats.org/officeDocument/2006/relationships/chart" Target="../charts/char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6.png"/><Relationship Id="rId4" Type="http://schemas.openxmlformats.org/officeDocument/2006/relationships/chart" Target="../charts/chart3.xml"/><Relationship Id="rId5" Type="http://schemas.openxmlformats.org/officeDocument/2006/relationships/image" Target="../media/image22.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6.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9.png"/><Relationship Id="rId4" Type="http://schemas.openxmlformats.org/officeDocument/2006/relationships/image" Target="../media/image27.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29.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9.png"/><Relationship Id="rId4" Type="http://schemas.openxmlformats.org/officeDocument/2006/relationships/image" Target="../media/image30.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3.gif"/><Relationship Id="rId4" Type="http://schemas.openxmlformats.org/officeDocument/2006/relationships/image" Target="../media/image35.gif"/><Relationship Id="rId5" Type="http://schemas.openxmlformats.org/officeDocument/2006/relationships/image" Target="../media/image38.gif"/><Relationship Id="rId6" Type="http://schemas.openxmlformats.org/officeDocument/2006/relationships/image" Target="../media/image34.gif"/><Relationship Id="rId7" Type="http://schemas.openxmlformats.org/officeDocument/2006/relationships/image" Target="../media/image37.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 name="Shape 92"/>
        <p:cNvGrpSpPr/>
        <p:nvPr/>
      </p:nvGrpSpPr>
      <p:grpSpPr>
        <a:xfrm>
          <a:off x="0" y="0"/>
          <a:ext cx="0" cy="0"/>
          <a:chOff x="0" y="0"/>
          <a:chExt cx="0" cy="0"/>
        </a:xfrm>
      </p:grpSpPr>
      <p:sp>
        <p:nvSpPr>
          <p:cNvPr id="93" name="Google Shape;93;p1"/>
          <p:cNvSpPr txBox="1"/>
          <p:nvPr/>
        </p:nvSpPr>
        <p:spPr>
          <a:xfrm>
            <a:off x="1224306" y="1519352"/>
            <a:ext cx="5012721"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3F3F3F"/>
              </a:buClr>
              <a:buSzPts val="5400"/>
              <a:buFont typeface="Times New Roman"/>
              <a:buNone/>
            </a:pPr>
            <a:r>
              <a:rPr b="1" i="0" lang="es-ES" sz="5400" u="none" cap="none" strike="noStrike">
                <a:solidFill>
                  <a:srgbClr val="3F3F3F"/>
                </a:solidFill>
                <a:latin typeface="Times New Roman"/>
                <a:ea typeface="Times New Roman"/>
                <a:cs typeface="Times New Roman"/>
                <a:sym typeface="Times New Roman"/>
              </a:rPr>
              <a:t>Sistema de Información </a:t>
            </a:r>
            <a:endParaRPr/>
          </a:p>
          <a:p>
            <a:pPr indent="0" lvl="0" marL="0" marR="0" rtl="0" algn="l">
              <a:spcBef>
                <a:spcPts val="0"/>
              </a:spcBef>
              <a:spcAft>
                <a:spcPts val="0"/>
              </a:spcAft>
              <a:buClr>
                <a:srgbClr val="3F3F3F"/>
              </a:buClr>
              <a:buSzPts val="5400"/>
              <a:buFont typeface="Times New Roman"/>
              <a:buNone/>
            </a:pPr>
            <a:r>
              <a:rPr b="1" i="0" lang="es-ES" sz="5400" u="none" cap="none" strike="noStrike">
                <a:solidFill>
                  <a:srgbClr val="3F3F3F"/>
                </a:solidFill>
                <a:latin typeface="Times New Roman"/>
                <a:ea typeface="Times New Roman"/>
                <a:cs typeface="Times New Roman"/>
                <a:sym typeface="Times New Roman"/>
              </a:rPr>
              <a:t>“Zoolomascotas MX”.</a:t>
            </a:r>
            <a:endParaRPr b="1" i="0" sz="4000" u="none" cap="none" strike="noStrike">
              <a:solidFill>
                <a:srgbClr val="3F3F3F"/>
              </a:solidFill>
              <a:latin typeface="Times New Roman"/>
              <a:ea typeface="Times New Roman"/>
              <a:cs typeface="Times New Roman"/>
              <a:sym typeface="Times New Roman"/>
            </a:endParaRPr>
          </a:p>
        </p:txBody>
      </p:sp>
      <p:pic>
        <p:nvPicPr>
          <p:cNvPr descr="X-Ray Vintage GIF by U.S. National Archives" id="94" name="Google Shape;94;p1"/>
          <p:cNvPicPr preferRelativeResize="0"/>
          <p:nvPr/>
        </p:nvPicPr>
        <p:blipFill rotWithShape="1">
          <a:blip r:embed="rId4">
            <a:alphaModFix/>
          </a:blip>
          <a:srcRect b="0" l="0" r="0" t="0"/>
          <a:stretch/>
        </p:blipFill>
        <p:spPr>
          <a:xfrm>
            <a:off x="6557395" y="2179913"/>
            <a:ext cx="3385024" cy="249817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8" name="Shape 98"/>
        <p:cNvGrpSpPr/>
        <p:nvPr/>
      </p:nvGrpSpPr>
      <p:grpSpPr>
        <a:xfrm>
          <a:off x="0" y="0"/>
          <a:ext cx="0" cy="0"/>
          <a:chOff x="0" y="0"/>
          <a:chExt cx="0" cy="0"/>
        </a:xfrm>
      </p:grpSpPr>
      <p:sp>
        <p:nvSpPr>
          <p:cNvPr id="99" name="Google Shape;99;p2"/>
          <p:cNvSpPr txBox="1"/>
          <p:nvPr/>
        </p:nvSpPr>
        <p:spPr>
          <a:xfrm>
            <a:off x="570451" y="1130951"/>
            <a:ext cx="10981189" cy="212365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4D4D4C"/>
              </a:buClr>
              <a:buSzPts val="6000"/>
              <a:buFont typeface="Times New Roman"/>
              <a:buNone/>
            </a:pPr>
            <a:r>
              <a:rPr b="1" i="0" lang="es-ES" sz="6000" u="none" cap="none" strike="noStrike">
                <a:solidFill>
                  <a:srgbClr val="4D4D4C"/>
                </a:solidFill>
                <a:latin typeface="Times New Roman"/>
                <a:ea typeface="Times New Roman"/>
                <a:cs typeface="Times New Roman"/>
                <a:sym typeface="Times New Roman"/>
              </a:rPr>
              <a:t>INTEGRANTES</a:t>
            </a:r>
            <a:endParaRPr/>
          </a:p>
          <a:p>
            <a:pPr indent="0" lvl="0" marL="0" marR="0" rtl="0" algn="ctr">
              <a:lnSpc>
                <a:spcPct val="100000"/>
              </a:lnSpc>
              <a:spcBef>
                <a:spcPts val="0"/>
              </a:spcBef>
              <a:spcAft>
                <a:spcPts val="0"/>
              </a:spcAft>
              <a:buClr>
                <a:schemeClr val="dk1"/>
              </a:buClr>
              <a:buSzPts val="7200"/>
              <a:buFont typeface="Calibri"/>
              <a:buNone/>
            </a:pPr>
            <a:r>
              <a:t/>
            </a:r>
            <a:endParaRPr b="1" i="0" sz="7200" u="none" cap="none" strike="noStrike">
              <a:solidFill>
                <a:srgbClr val="4D4D4C"/>
              </a:solidFill>
              <a:latin typeface="Work Sans"/>
              <a:ea typeface="Work Sans"/>
              <a:cs typeface="Work Sans"/>
              <a:sym typeface="Work Sans"/>
            </a:endParaRPr>
          </a:p>
        </p:txBody>
      </p:sp>
      <p:cxnSp>
        <p:nvCxnSpPr>
          <p:cNvPr id="100" name="Google Shape;100;p2"/>
          <p:cNvCxnSpPr/>
          <p:nvPr/>
        </p:nvCxnSpPr>
        <p:spPr>
          <a:xfrm>
            <a:off x="4611502" y="2262931"/>
            <a:ext cx="3173482" cy="0"/>
          </a:xfrm>
          <a:prstGeom prst="straightConnector1">
            <a:avLst/>
          </a:prstGeom>
          <a:noFill/>
          <a:ln cap="flat" cmpd="sng" w="12700">
            <a:solidFill>
              <a:srgbClr val="38AA00"/>
            </a:solidFill>
            <a:prstDash val="solid"/>
            <a:miter lim="800000"/>
            <a:headEnd len="sm" w="sm" type="none"/>
            <a:tailEnd len="sm" w="sm" type="none"/>
          </a:ln>
        </p:spPr>
      </p:cxnSp>
      <p:sp>
        <p:nvSpPr>
          <p:cNvPr id="101" name="Google Shape;101;p2"/>
          <p:cNvSpPr txBox="1"/>
          <p:nvPr/>
        </p:nvSpPr>
        <p:spPr>
          <a:xfrm>
            <a:off x="3013744" y="2487602"/>
            <a:ext cx="6094500" cy="1388400"/>
          </a:xfrm>
          <a:prstGeom prst="rect">
            <a:avLst/>
          </a:prstGeom>
          <a:noFill/>
          <a:ln>
            <a:noFill/>
          </a:ln>
        </p:spPr>
        <p:txBody>
          <a:bodyPr anchorCtr="0" anchor="t" bIns="45700" lIns="91425" spcFirstLastPara="1" rIns="91425" wrap="square" tIns="45700">
            <a:spAutoFit/>
          </a:bodyPr>
          <a:lstStyle/>
          <a:p>
            <a:pPr indent="0" lvl="0" marL="0" marR="0" rtl="0" algn="ctr">
              <a:lnSpc>
                <a:spcPct val="107000"/>
              </a:lnSpc>
              <a:spcBef>
                <a:spcPts val="0"/>
              </a:spcBef>
              <a:spcAft>
                <a:spcPts val="0"/>
              </a:spcAft>
              <a:buNone/>
            </a:pPr>
            <a:r>
              <a:rPr b="0" i="0" lang="es-ES" sz="2000" u="none" cap="none" strike="noStrike">
                <a:solidFill>
                  <a:schemeClr val="dk1"/>
                </a:solidFill>
                <a:latin typeface="Garamond"/>
                <a:ea typeface="Garamond"/>
                <a:cs typeface="Garamond"/>
                <a:sym typeface="Garamond"/>
              </a:rPr>
              <a:t>Nelson González</a:t>
            </a:r>
            <a:br>
              <a:rPr b="0" i="0" lang="es-ES" sz="2000" u="none" cap="none" strike="noStrike">
                <a:solidFill>
                  <a:schemeClr val="dk1"/>
                </a:solidFill>
                <a:latin typeface="Garamond"/>
                <a:ea typeface="Garamond"/>
                <a:cs typeface="Garamond"/>
                <a:sym typeface="Garamond"/>
              </a:rPr>
            </a:br>
            <a:r>
              <a:rPr b="0" i="0" lang="es-ES" sz="2000" u="none" cap="none" strike="noStrike">
                <a:solidFill>
                  <a:schemeClr val="dk1"/>
                </a:solidFill>
                <a:latin typeface="Garamond"/>
                <a:ea typeface="Garamond"/>
                <a:cs typeface="Garamond"/>
                <a:sym typeface="Garamond"/>
              </a:rPr>
              <a:t>Alejandra Cortés</a:t>
            </a:r>
            <a:br>
              <a:rPr b="0" i="0" lang="es-ES" sz="2000" u="none" cap="none" strike="noStrike">
                <a:solidFill>
                  <a:schemeClr val="dk1"/>
                </a:solidFill>
                <a:latin typeface="Garamond"/>
                <a:ea typeface="Garamond"/>
                <a:cs typeface="Garamond"/>
                <a:sym typeface="Garamond"/>
              </a:rPr>
            </a:br>
            <a:r>
              <a:rPr b="0" i="0" lang="es-ES" sz="2000" u="none" cap="none" strike="noStrike">
                <a:solidFill>
                  <a:schemeClr val="dk1"/>
                </a:solidFill>
                <a:latin typeface="Garamond"/>
                <a:ea typeface="Garamond"/>
                <a:cs typeface="Garamond"/>
                <a:sym typeface="Garamond"/>
              </a:rPr>
              <a:t>Nicolás Murcia</a:t>
            </a:r>
            <a:br>
              <a:rPr b="0" i="0" lang="es-ES" sz="2000" u="none" cap="none" strike="noStrike">
                <a:solidFill>
                  <a:schemeClr val="dk1"/>
                </a:solidFill>
                <a:latin typeface="Garamond"/>
                <a:ea typeface="Garamond"/>
                <a:cs typeface="Garamond"/>
                <a:sym typeface="Garamond"/>
              </a:rPr>
            </a:br>
            <a:r>
              <a:rPr lang="es-ES" sz="2000">
                <a:solidFill>
                  <a:schemeClr val="dk1"/>
                </a:solidFill>
                <a:latin typeface="Garamond"/>
                <a:ea typeface="Garamond"/>
                <a:cs typeface="Garamond"/>
                <a:sym typeface="Garamond"/>
              </a:rPr>
              <a:t>Carol Benavides</a:t>
            </a:r>
            <a:endParaRPr/>
          </a:p>
        </p:txBody>
      </p:sp>
      <p:pic>
        <p:nvPicPr>
          <p:cNvPr descr="Penguin Studying Sticker by Pudgy Penguins" id="102" name="Google Shape;102;p2"/>
          <p:cNvPicPr preferRelativeResize="0"/>
          <p:nvPr/>
        </p:nvPicPr>
        <p:blipFill rotWithShape="1">
          <a:blip r:embed="rId4">
            <a:alphaModFix/>
          </a:blip>
          <a:srcRect b="0" l="0" r="0" t="0"/>
          <a:stretch/>
        </p:blipFill>
        <p:spPr>
          <a:xfrm>
            <a:off x="5017122" y="4386589"/>
            <a:ext cx="2157756" cy="215775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 name="Shape 106"/>
        <p:cNvGrpSpPr/>
        <p:nvPr/>
      </p:nvGrpSpPr>
      <p:grpSpPr>
        <a:xfrm>
          <a:off x="0" y="0"/>
          <a:ext cx="0" cy="0"/>
          <a:chOff x="0" y="0"/>
          <a:chExt cx="0" cy="0"/>
        </a:xfrm>
      </p:grpSpPr>
      <p:sp>
        <p:nvSpPr>
          <p:cNvPr id="107" name="Google Shape;107;p3"/>
          <p:cNvSpPr txBox="1"/>
          <p:nvPr/>
        </p:nvSpPr>
        <p:spPr>
          <a:xfrm>
            <a:off x="79672" y="2826522"/>
            <a:ext cx="12032655" cy="86177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5000" u="none" cap="none" strike="noStrike">
                <a:solidFill>
                  <a:srgbClr val="4D4D4C"/>
                </a:solidFill>
                <a:latin typeface="Times New Roman"/>
                <a:ea typeface="Times New Roman"/>
                <a:cs typeface="Times New Roman"/>
                <a:sym typeface="Times New Roman"/>
              </a:rPr>
              <a:t>FORMULACIÓN DEL PROYECTO</a:t>
            </a:r>
            <a:endParaRPr/>
          </a:p>
        </p:txBody>
      </p:sp>
      <p:cxnSp>
        <p:nvCxnSpPr>
          <p:cNvPr id="108" name="Google Shape;108;p3"/>
          <p:cNvCxnSpPr/>
          <p:nvPr/>
        </p:nvCxnSpPr>
        <p:spPr>
          <a:xfrm>
            <a:off x="3635072" y="3692488"/>
            <a:ext cx="4921853" cy="0"/>
          </a:xfrm>
          <a:prstGeom prst="straightConnector1">
            <a:avLst/>
          </a:prstGeom>
          <a:noFill/>
          <a:ln cap="flat" cmpd="sng" w="12700">
            <a:solidFill>
              <a:schemeClr val="lt1"/>
            </a:solidFill>
            <a:prstDash val="solid"/>
            <a:miter lim="800000"/>
            <a:headEnd len="sm" w="sm" type="none"/>
            <a:tailEnd len="sm" w="sm" type="none"/>
          </a:ln>
        </p:spPr>
      </p:cxnSp>
      <p:pic>
        <p:nvPicPr>
          <p:cNvPr descr="disney animation group photo GIF by Disney" id="109" name="Google Shape;109;p3"/>
          <p:cNvPicPr preferRelativeResize="0"/>
          <p:nvPr/>
        </p:nvPicPr>
        <p:blipFill rotWithShape="1">
          <a:blip r:embed="rId4">
            <a:alphaModFix/>
          </a:blip>
          <a:srcRect b="0" l="0" r="0" t="0"/>
          <a:stretch/>
        </p:blipFill>
        <p:spPr>
          <a:xfrm>
            <a:off x="4095667" y="4146273"/>
            <a:ext cx="4000665" cy="224126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 name="Shape 113"/>
        <p:cNvGrpSpPr/>
        <p:nvPr/>
      </p:nvGrpSpPr>
      <p:grpSpPr>
        <a:xfrm>
          <a:off x="0" y="0"/>
          <a:ext cx="0" cy="0"/>
          <a:chOff x="0" y="0"/>
          <a:chExt cx="0" cy="0"/>
        </a:xfrm>
      </p:grpSpPr>
      <p:sp>
        <p:nvSpPr>
          <p:cNvPr id="114" name="Google Shape;114;p4"/>
          <p:cNvSpPr txBox="1"/>
          <p:nvPr/>
        </p:nvSpPr>
        <p:spPr>
          <a:xfrm>
            <a:off x="5957951" y="1147604"/>
            <a:ext cx="6068100" cy="5633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ES" sz="2000" u="none" cap="none" strike="noStrike">
                <a:solidFill>
                  <a:schemeClr val="dk1"/>
                </a:solidFill>
                <a:latin typeface="Garamond"/>
                <a:ea typeface="Garamond"/>
                <a:cs typeface="Garamond"/>
                <a:sym typeface="Garamond"/>
              </a:rPr>
              <a:t>La veterinaria Zoolomascotas MX es un establecimiento dedicado a brindar servicios de cuidado y bienestar para mascotas, ofreciendo servicios como consultas médicas, vacunación, procedimientos básicos, hospitalización y venta de productos veterinarios.</a:t>
            </a:r>
            <a:endParaRPr/>
          </a:p>
          <a:p>
            <a:pPr indent="0" lvl="0" marL="0" marR="0" rtl="0" algn="ctr">
              <a:spcBef>
                <a:spcPts val="0"/>
              </a:spcBef>
              <a:spcAft>
                <a:spcPts val="0"/>
              </a:spcAft>
              <a:buNone/>
            </a:pPr>
            <a:r>
              <a:t/>
            </a:r>
            <a:endParaRPr b="0" i="0" sz="2000" u="none" cap="none" strike="noStrike">
              <a:solidFill>
                <a:schemeClr val="dk1"/>
              </a:solidFill>
              <a:latin typeface="Garamond"/>
              <a:ea typeface="Garamond"/>
              <a:cs typeface="Garamond"/>
              <a:sym typeface="Garamond"/>
            </a:endParaRPr>
          </a:p>
          <a:p>
            <a:pPr indent="0" lvl="0" marL="0" marR="0" rtl="0" algn="ctr">
              <a:spcBef>
                <a:spcPts val="0"/>
              </a:spcBef>
              <a:spcAft>
                <a:spcPts val="0"/>
              </a:spcAft>
              <a:buNone/>
            </a:pPr>
            <a:r>
              <a:rPr b="0" i="0" lang="es-ES" sz="2000" u="none" cap="none" strike="noStrike">
                <a:solidFill>
                  <a:schemeClr val="dk1"/>
                </a:solidFill>
                <a:latin typeface="Garamond"/>
                <a:ea typeface="Garamond"/>
                <a:cs typeface="Garamond"/>
                <a:sym typeface="Garamond"/>
              </a:rPr>
              <a:t>A partir de las actividades de levantamiento de información realizadas en la veterinaria, se identificaron diversas dificultades en sus procesos internos. Entre ellas destacan los retrasos en la gestión de citas, la falta de control adecuado sobre los casos de hospitalización y las dificultades en el acceso al historial clínico de las mascotas, en parte debido a que el registro y procesamiento de esta información se lleva a cabo de manera manual. Esta situación puede generar pérdida de datos, inconsistencias en los tratamientos, complicaciones en el seguimiento de vacunas, hospitalizaciones y controles, así como fallas en el manejo de</a:t>
            </a:r>
            <a:r>
              <a:rPr lang="es-ES" sz="2000">
                <a:solidFill>
                  <a:schemeClr val="dk1"/>
                </a:solidFill>
                <a:latin typeface="Garamond"/>
                <a:ea typeface="Garamond"/>
                <a:cs typeface="Garamond"/>
                <a:sym typeface="Garamond"/>
              </a:rPr>
              <a:t> insumos</a:t>
            </a:r>
            <a:r>
              <a:rPr b="0" i="0" lang="es-ES" sz="2000" u="none" cap="none" strike="noStrike">
                <a:solidFill>
                  <a:schemeClr val="dk1"/>
                </a:solidFill>
                <a:latin typeface="Garamond"/>
                <a:ea typeface="Garamond"/>
                <a:cs typeface="Garamond"/>
                <a:sym typeface="Garamond"/>
              </a:rPr>
              <a:t> de medicamentos y productos.</a:t>
            </a:r>
            <a:endParaRPr b="0" i="0" sz="2000" u="none" cap="none" strike="noStrike">
              <a:solidFill>
                <a:schemeClr val="dk1"/>
              </a:solidFill>
              <a:latin typeface="Garamond"/>
              <a:ea typeface="Garamond"/>
              <a:cs typeface="Garamond"/>
              <a:sym typeface="Garamond"/>
            </a:endParaRPr>
          </a:p>
        </p:txBody>
      </p:sp>
      <p:cxnSp>
        <p:nvCxnSpPr>
          <p:cNvPr id="115" name="Google Shape;115;p4"/>
          <p:cNvCxnSpPr/>
          <p:nvPr/>
        </p:nvCxnSpPr>
        <p:spPr>
          <a:xfrm>
            <a:off x="5950226" y="1043030"/>
            <a:ext cx="5965675" cy="0"/>
          </a:xfrm>
          <a:prstGeom prst="straightConnector1">
            <a:avLst/>
          </a:prstGeom>
          <a:noFill/>
          <a:ln cap="flat" cmpd="sng" w="12700">
            <a:solidFill>
              <a:srgbClr val="4D4D4C"/>
            </a:solidFill>
            <a:prstDash val="solid"/>
            <a:miter lim="800000"/>
            <a:headEnd len="sm" w="sm" type="none"/>
            <a:tailEnd len="sm" w="sm" type="none"/>
          </a:ln>
        </p:spPr>
      </p:cxnSp>
      <p:pic>
        <p:nvPicPr>
          <p:cNvPr descr="Cats Question GIF by Boucheron" id="116" name="Google Shape;116;p4"/>
          <p:cNvPicPr preferRelativeResize="0"/>
          <p:nvPr/>
        </p:nvPicPr>
        <p:blipFill rotWithShape="1">
          <a:blip r:embed="rId4">
            <a:alphaModFix/>
          </a:blip>
          <a:srcRect b="0" l="0" r="0" t="0"/>
          <a:stretch/>
        </p:blipFill>
        <p:spPr>
          <a:xfrm>
            <a:off x="0" y="72626"/>
            <a:ext cx="6068114" cy="6068114"/>
          </a:xfrm>
          <a:prstGeom prst="rect">
            <a:avLst/>
          </a:prstGeom>
          <a:noFill/>
          <a:ln>
            <a:noFill/>
          </a:ln>
        </p:spPr>
      </p:pic>
      <p:sp>
        <p:nvSpPr>
          <p:cNvPr id="117" name="Google Shape;117;p4"/>
          <p:cNvSpPr txBox="1"/>
          <p:nvPr/>
        </p:nvSpPr>
        <p:spPr>
          <a:xfrm>
            <a:off x="5707948" y="476792"/>
            <a:ext cx="609460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2400" u="none" cap="none" strike="noStrike">
                <a:solidFill>
                  <a:srgbClr val="4D4D4C"/>
                </a:solidFill>
                <a:latin typeface="Times New Roman"/>
                <a:ea typeface="Times New Roman"/>
                <a:cs typeface="Times New Roman"/>
                <a:sym typeface="Times New Roman"/>
              </a:rPr>
              <a:t>PLANTEAMIENTO</a:t>
            </a:r>
            <a:r>
              <a:rPr b="1" i="0" lang="es-ES" sz="2400" u="none" cap="none" strike="noStrike">
                <a:solidFill>
                  <a:schemeClr val="dk1"/>
                </a:solidFill>
                <a:latin typeface="Times New Roman"/>
                <a:ea typeface="Times New Roman"/>
                <a:cs typeface="Times New Roman"/>
                <a:sym typeface="Times New Roman"/>
              </a:rPr>
              <a:t> </a:t>
            </a:r>
            <a:r>
              <a:rPr b="1" i="0" lang="es-ES" sz="2400" u="none" cap="none" strike="noStrike">
                <a:solidFill>
                  <a:srgbClr val="4D4D4C"/>
                </a:solidFill>
                <a:latin typeface="Times New Roman"/>
                <a:ea typeface="Times New Roman"/>
                <a:cs typeface="Times New Roman"/>
                <a:sym typeface="Times New Roman"/>
              </a:rPr>
              <a:t>DEL PROBLEMA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1" name="Shape 121"/>
        <p:cNvGrpSpPr/>
        <p:nvPr/>
      </p:nvGrpSpPr>
      <p:grpSpPr>
        <a:xfrm>
          <a:off x="0" y="0"/>
          <a:ext cx="0" cy="0"/>
          <a:chOff x="0" y="0"/>
          <a:chExt cx="0" cy="0"/>
        </a:xfrm>
      </p:grpSpPr>
      <p:sp>
        <p:nvSpPr>
          <p:cNvPr id="122" name="Google Shape;122;p5"/>
          <p:cNvSpPr txBox="1"/>
          <p:nvPr/>
        </p:nvSpPr>
        <p:spPr>
          <a:xfrm>
            <a:off x="649357" y="1289830"/>
            <a:ext cx="7353300" cy="501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ES" sz="2000" u="none" cap="none" strike="noStrike">
                <a:solidFill>
                  <a:schemeClr val="dk1"/>
                </a:solidFill>
                <a:latin typeface="Garamond"/>
                <a:ea typeface="Garamond"/>
                <a:cs typeface="Garamond"/>
                <a:sym typeface="Garamond"/>
              </a:rPr>
              <a:t>A partir del análisis de la problemática identificada en la clínica veterinaria Zoolomascotas MX, se evidenció que procesos como la gestión de citas, los historiales clínicos, la hospitalización </a:t>
            </a:r>
            <a:r>
              <a:rPr lang="es-ES" sz="2000">
                <a:solidFill>
                  <a:schemeClr val="dk1"/>
                </a:solidFill>
                <a:latin typeface="Garamond"/>
                <a:ea typeface="Garamond"/>
                <a:cs typeface="Garamond"/>
                <a:sym typeface="Garamond"/>
              </a:rPr>
              <a:t>e insumos </a:t>
            </a:r>
            <a:r>
              <a:rPr b="0" i="0" lang="es-ES" sz="2000" u="none" cap="none" strike="noStrike">
                <a:solidFill>
                  <a:schemeClr val="dk1"/>
                </a:solidFill>
                <a:latin typeface="Garamond"/>
                <a:ea typeface="Garamond"/>
                <a:cs typeface="Garamond"/>
                <a:sym typeface="Garamond"/>
              </a:rPr>
              <a:t>de medicamentos se realizan de forma manual y poco organizada. Esto genera demoras, pérdidas de información y dificultades para acceder a datos importantes durante la atención y el seguimiento de las mascotas, afectando la eficiencia del personal y la calidad del servicio ofrecido a los propietarios.</a:t>
            </a:r>
            <a:endParaRPr/>
          </a:p>
          <a:p>
            <a:pPr indent="0" lvl="0" marL="0" marR="0" rtl="0" algn="ctr">
              <a:spcBef>
                <a:spcPts val="0"/>
              </a:spcBef>
              <a:spcAft>
                <a:spcPts val="0"/>
              </a:spcAft>
              <a:buNone/>
            </a:pPr>
            <a:r>
              <a:t/>
            </a:r>
            <a:endParaRPr b="0" i="0" sz="2000" u="none" cap="none" strike="noStrike">
              <a:solidFill>
                <a:schemeClr val="dk1"/>
              </a:solidFill>
              <a:latin typeface="Garamond"/>
              <a:ea typeface="Garamond"/>
              <a:cs typeface="Garamond"/>
              <a:sym typeface="Garamond"/>
            </a:endParaRPr>
          </a:p>
          <a:p>
            <a:pPr indent="0" lvl="0" marL="0" marR="0" rtl="0" algn="ctr">
              <a:spcBef>
                <a:spcPts val="0"/>
              </a:spcBef>
              <a:spcAft>
                <a:spcPts val="0"/>
              </a:spcAft>
              <a:buNone/>
            </a:pPr>
            <a:r>
              <a:rPr b="0" i="0" lang="es-ES" sz="2000" u="none" cap="none" strike="noStrike">
                <a:solidFill>
                  <a:schemeClr val="dk1"/>
                </a:solidFill>
                <a:latin typeface="Garamond"/>
                <a:ea typeface="Garamond"/>
                <a:cs typeface="Garamond"/>
                <a:sym typeface="Garamond"/>
              </a:rPr>
              <a:t>Para mejorar el rendimiento en la prestación de sus servicios, se hace necesario implementar un sistema de información que apoye y centralice estos procesos. Con ello, la veterinaria contará con información oportuna y veraz, lo que permitirá agilizar las actividades internas, reducir errores y ofrecer una atención más organizada, eficiente y confiable tanto para los empleados como para los clientes.</a:t>
            </a:r>
            <a:endParaRPr/>
          </a:p>
          <a:p>
            <a:pPr indent="0" lvl="0" marL="0" marR="0" rtl="0" algn="ctr">
              <a:lnSpc>
                <a:spcPct val="107000"/>
              </a:lnSpc>
              <a:spcBef>
                <a:spcPts val="0"/>
              </a:spcBef>
              <a:spcAft>
                <a:spcPts val="0"/>
              </a:spcAft>
              <a:buNone/>
            </a:pPr>
            <a:r>
              <a:t/>
            </a:r>
            <a:endParaRPr b="0" i="0" sz="2000" u="none" cap="none" strike="noStrike">
              <a:solidFill>
                <a:schemeClr val="dk1"/>
              </a:solidFill>
              <a:latin typeface="Garamond"/>
              <a:ea typeface="Garamond"/>
              <a:cs typeface="Garamond"/>
              <a:sym typeface="Garamond"/>
            </a:endParaRPr>
          </a:p>
        </p:txBody>
      </p:sp>
      <p:pic>
        <p:nvPicPr>
          <p:cNvPr descr="Cartoon gif. A chubby baby chicken has a hula skirt on and moves his hips back and forth while wiggling his wings in the air. He has rosy cheeks and a happy, satisfied look on his face." id="123" name="Google Shape;123;p5"/>
          <p:cNvPicPr preferRelativeResize="0"/>
          <p:nvPr/>
        </p:nvPicPr>
        <p:blipFill rotWithShape="1">
          <a:blip r:embed="rId4">
            <a:alphaModFix/>
          </a:blip>
          <a:srcRect b="0" l="0" r="0" t="0"/>
          <a:stretch/>
        </p:blipFill>
        <p:spPr>
          <a:xfrm>
            <a:off x="8645223" y="1889619"/>
            <a:ext cx="3078761" cy="3078761"/>
          </a:xfrm>
          <a:prstGeom prst="rect">
            <a:avLst/>
          </a:prstGeom>
          <a:noFill/>
          <a:ln>
            <a:noFill/>
          </a:ln>
        </p:spPr>
      </p:pic>
      <p:sp>
        <p:nvSpPr>
          <p:cNvPr id="124" name="Google Shape;124;p5"/>
          <p:cNvSpPr txBox="1"/>
          <p:nvPr/>
        </p:nvSpPr>
        <p:spPr>
          <a:xfrm>
            <a:off x="1201724" y="447036"/>
            <a:ext cx="6094602"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3000" u="none" cap="none" strike="noStrike">
                <a:solidFill>
                  <a:srgbClr val="4D4D4C"/>
                </a:solidFill>
                <a:latin typeface="Times New Roman"/>
                <a:ea typeface="Times New Roman"/>
                <a:cs typeface="Times New Roman"/>
                <a:sym typeface="Times New Roman"/>
              </a:rPr>
              <a:t>JUSTIFICACIÓN</a:t>
            </a:r>
            <a:endParaRPr b="1" i="0" sz="3000" u="none" cap="none" strike="noStrike">
              <a:solidFill>
                <a:schemeClr val="lt1"/>
              </a:solidFill>
              <a:latin typeface="Work Sans"/>
              <a:ea typeface="Work Sans"/>
              <a:cs typeface="Work Sans"/>
              <a:sym typeface="Work Sans"/>
            </a:endParaRPr>
          </a:p>
        </p:txBody>
      </p:sp>
      <p:cxnSp>
        <p:nvCxnSpPr>
          <p:cNvPr id="125" name="Google Shape;125;p5"/>
          <p:cNvCxnSpPr/>
          <p:nvPr/>
        </p:nvCxnSpPr>
        <p:spPr>
          <a:xfrm>
            <a:off x="516098" y="1138806"/>
            <a:ext cx="7705113" cy="0"/>
          </a:xfrm>
          <a:prstGeom prst="straightConnector1">
            <a:avLst/>
          </a:prstGeom>
          <a:noFill/>
          <a:ln cap="flat" cmpd="sng" w="12700">
            <a:solidFill>
              <a:srgbClr val="38AA00"/>
            </a:solidFill>
            <a:prstDash val="solid"/>
            <a:miter lim="800000"/>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9" name="Shape 129"/>
        <p:cNvGrpSpPr/>
        <p:nvPr/>
      </p:nvGrpSpPr>
      <p:grpSpPr>
        <a:xfrm>
          <a:off x="0" y="0"/>
          <a:ext cx="0" cy="0"/>
          <a:chOff x="0" y="0"/>
          <a:chExt cx="0" cy="0"/>
        </a:xfrm>
      </p:grpSpPr>
      <p:sp>
        <p:nvSpPr>
          <p:cNvPr id="130" name="Google Shape;130;p6"/>
          <p:cNvSpPr txBox="1"/>
          <p:nvPr/>
        </p:nvSpPr>
        <p:spPr>
          <a:xfrm>
            <a:off x="605405" y="1845229"/>
            <a:ext cx="10981189"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6000" u="none" cap="none" strike="noStrike">
                <a:solidFill>
                  <a:srgbClr val="4D4D4C"/>
                </a:solidFill>
                <a:latin typeface="Times New Roman"/>
                <a:ea typeface="Times New Roman"/>
                <a:cs typeface="Times New Roman"/>
                <a:sym typeface="Times New Roman"/>
              </a:rPr>
              <a:t>PREGUNTA DEL PROYECTO</a:t>
            </a:r>
            <a:endParaRPr b="1" i="0" sz="7200" u="none" cap="none" strike="noStrike">
              <a:solidFill>
                <a:srgbClr val="4D4D4C"/>
              </a:solidFill>
              <a:latin typeface="Work Sans"/>
              <a:ea typeface="Work Sans"/>
              <a:cs typeface="Work Sans"/>
              <a:sym typeface="Work Sans"/>
            </a:endParaRPr>
          </a:p>
        </p:txBody>
      </p:sp>
      <p:cxnSp>
        <p:nvCxnSpPr>
          <p:cNvPr id="131" name="Google Shape;131;p6"/>
          <p:cNvCxnSpPr/>
          <p:nvPr/>
        </p:nvCxnSpPr>
        <p:spPr>
          <a:xfrm>
            <a:off x="4509258" y="3004930"/>
            <a:ext cx="3173482" cy="0"/>
          </a:xfrm>
          <a:prstGeom prst="straightConnector1">
            <a:avLst/>
          </a:prstGeom>
          <a:noFill/>
          <a:ln cap="flat" cmpd="sng" w="12700">
            <a:solidFill>
              <a:srgbClr val="38AA00"/>
            </a:solidFill>
            <a:prstDash val="solid"/>
            <a:miter lim="800000"/>
            <a:headEnd len="sm" w="sm" type="none"/>
            <a:tailEnd len="sm" w="sm" type="none"/>
          </a:ln>
        </p:spPr>
      </p:cxnSp>
      <p:sp>
        <p:nvSpPr>
          <p:cNvPr id="132" name="Google Shape;132;p6"/>
          <p:cNvSpPr txBox="1"/>
          <p:nvPr/>
        </p:nvSpPr>
        <p:spPr>
          <a:xfrm>
            <a:off x="861998" y="3216563"/>
            <a:ext cx="109812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ES" sz="1800" u="none" cap="none" strike="noStrike">
                <a:solidFill>
                  <a:schemeClr val="dk1"/>
                </a:solidFill>
                <a:latin typeface="Garamond"/>
                <a:ea typeface="Garamond"/>
                <a:cs typeface="Garamond"/>
                <a:sym typeface="Garamond"/>
              </a:rPr>
              <a:t>¿De qué manera se puede gestionar de forma eficiente la gestión de citas, historiales clínicos, hospitalizaciones, in</a:t>
            </a:r>
            <a:r>
              <a:rPr lang="es-ES" sz="1800">
                <a:solidFill>
                  <a:schemeClr val="dk1"/>
                </a:solidFill>
                <a:latin typeface="Garamond"/>
                <a:ea typeface="Garamond"/>
                <a:cs typeface="Garamond"/>
                <a:sym typeface="Garamond"/>
              </a:rPr>
              <a:t>sumos </a:t>
            </a:r>
            <a:r>
              <a:rPr b="0" i="0" lang="es-ES" sz="1800" u="none" cap="none" strike="noStrike">
                <a:solidFill>
                  <a:schemeClr val="dk1"/>
                </a:solidFill>
                <a:latin typeface="Garamond"/>
                <a:ea typeface="Garamond"/>
                <a:cs typeface="Garamond"/>
                <a:sym typeface="Garamond"/>
              </a:rPr>
              <a:t> y atención al cliente en la veterinaria Zoolomascotas MX?</a:t>
            </a:r>
            <a:endParaRPr/>
          </a:p>
        </p:txBody>
      </p:sp>
      <p:pic>
        <p:nvPicPr>
          <p:cNvPr descr="Video gif. A fluffy husky puppy cocks his head to the side in an expression of playful confusion while blue question marks emanate from his head. " id="133" name="Google Shape;133;p6"/>
          <p:cNvPicPr preferRelativeResize="0"/>
          <p:nvPr/>
        </p:nvPicPr>
        <p:blipFill rotWithShape="1">
          <a:blip r:embed="rId4">
            <a:alphaModFix/>
          </a:blip>
          <a:srcRect b="0" l="0" r="0" t="0"/>
          <a:stretch/>
        </p:blipFill>
        <p:spPr>
          <a:xfrm>
            <a:off x="4906510" y="4218565"/>
            <a:ext cx="2378978" cy="225562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7" name="Shape 137"/>
        <p:cNvGrpSpPr/>
        <p:nvPr/>
      </p:nvGrpSpPr>
      <p:grpSpPr>
        <a:xfrm>
          <a:off x="0" y="0"/>
          <a:ext cx="0" cy="0"/>
          <a:chOff x="0" y="0"/>
          <a:chExt cx="0" cy="0"/>
        </a:xfrm>
      </p:grpSpPr>
      <p:sp>
        <p:nvSpPr>
          <p:cNvPr id="138" name="Google Shape;138;p7"/>
          <p:cNvSpPr txBox="1"/>
          <p:nvPr/>
        </p:nvSpPr>
        <p:spPr>
          <a:xfrm>
            <a:off x="605405" y="1992702"/>
            <a:ext cx="10981189"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6000" u="none" cap="none" strike="noStrike">
                <a:solidFill>
                  <a:srgbClr val="4D4D4C"/>
                </a:solidFill>
                <a:latin typeface="Times New Roman"/>
                <a:ea typeface="Times New Roman"/>
                <a:cs typeface="Times New Roman"/>
                <a:sym typeface="Times New Roman"/>
              </a:rPr>
              <a:t>OBJETIVO</a:t>
            </a:r>
            <a:r>
              <a:rPr b="1" i="0" lang="es-ES" sz="6000" u="none" cap="none" strike="noStrike">
                <a:solidFill>
                  <a:srgbClr val="4D4D4C"/>
                </a:solidFill>
                <a:latin typeface="Arial"/>
                <a:ea typeface="Arial"/>
                <a:cs typeface="Arial"/>
                <a:sym typeface="Arial"/>
              </a:rPr>
              <a:t> </a:t>
            </a:r>
            <a:r>
              <a:rPr b="1" i="0" lang="es-ES" sz="6000" u="none" cap="none" strike="noStrike">
                <a:solidFill>
                  <a:srgbClr val="4D4D4C"/>
                </a:solidFill>
                <a:latin typeface="Times New Roman"/>
                <a:ea typeface="Times New Roman"/>
                <a:cs typeface="Times New Roman"/>
                <a:sym typeface="Times New Roman"/>
              </a:rPr>
              <a:t>GENERAL</a:t>
            </a:r>
            <a:endParaRPr/>
          </a:p>
        </p:txBody>
      </p:sp>
      <p:cxnSp>
        <p:nvCxnSpPr>
          <p:cNvPr id="139" name="Google Shape;139;p7"/>
          <p:cNvCxnSpPr/>
          <p:nvPr/>
        </p:nvCxnSpPr>
        <p:spPr>
          <a:xfrm>
            <a:off x="4509258" y="3135386"/>
            <a:ext cx="3173482" cy="0"/>
          </a:xfrm>
          <a:prstGeom prst="straightConnector1">
            <a:avLst/>
          </a:prstGeom>
          <a:noFill/>
          <a:ln cap="flat" cmpd="sng" w="12700">
            <a:solidFill>
              <a:srgbClr val="38AA00"/>
            </a:solidFill>
            <a:prstDash val="solid"/>
            <a:miter lim="800000"/>
            <a:headEnd len="sm" w="sm" type="none"/>
            <a:tailEnd len="sm" w="sm" type="none"/>
          </a:ln>
        </p:spPr>
      </p:cxnSp>
      <p:sp>
        <p:nvSpPr>
          <p:cNvPr id="140" name="Google Shape;140;p7"/>
          <p:cNvSpPr txBox="1"/>
          <p:nvPr/>
        </p:nvSpPr>
        <p:spPr>
          <a:xfrm>
            <a:off x="545284" y="3387971"/>
            <a:ext cx="11241300" cy="1200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ES" sz="1800" u="none" cap="none" strike="noStrike">
                <a:solidFill>
                  <a:schemeClr val="dk1"/>
                </a:solidFill>
                <a:latin typeface="Garamond"/>
                <a:ea typeface="Garamond"/>
                <a:cs typeface="Garamond"/>
                <a:sym typeface="Garamond"/>
              </a:rPr>
              <a:t>Desarrollar un sistema de información que permita gestionar de manera centralizada las citas, las hospitalizaciones, las ventas y </a:t>
            </a:r>
            <a:r>
              <a:rPr lang="es-ES" sz="1800">
                <a:solidFill>
                  <a:schemeClr val="dk1"/>
                </a:solidFill>
                <a:latin typeface="Garamond"/>
                <a:ea typeface="Garamond"/>
                <a:cs typeface="Garamond"/>
                <a:sym typeface="Garamond"/>
              </a:rPr>
              <a:t>los insumos </a:t>
            </a:r>
            <a:r>
              <a:rPr b="0" i="0" lang="es-ES" sz="1800" u="none" cap="none" strike="noStrike">
                <a:solidFill>
                  <a:schemeClr val="dk1"/>
                </a:solidFill>
                <a:latin typeface="Garamond"/>
                <a:ea typeface="Garamond"/>
                <a:cs typeface="Garamond"/>
                <a:sym typeface="Garamond"/>
              </a:rPr>
              <a:t>de la veterinaria “Zoolomascotas MX”, ubicada en el municipio de Soacha, con el propósito de optimizar sus procesos internos y mejorar la calidad del servicio.</a:t>
            </a:r>
            <a:endParaRPr/>
          </a:p>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Garamond"/>
              <a:ea typeface="Garamond"/>
              <a:cs typeface="Garamond"/>
              <a:sym typeface="Garamond"/>
            </a:endParaRPr>
          </a:p>
        </p:txBody>
      </p:sp>
      <p:pic>
        <p:nvPicPr>
          <p:cNvPr descr="dog veterinarian and cat" id="141" name="Google Shape;141;p7"/>
          <p:cNvPicPr preferRelativeResize="0"/>
          <p:nvPr/>
        </p:nvPicPr>
        <p:blipFill rotWithShape="1">
          <a:blip r:embed="rId4">
            <a:alphaModFix/>
          </a:blip>
          <a:srcRect b="0" l="0" r="0" t="0"/>
          <a:stretch/>
        </p:blipFill>
        <p:spPr>
          <a:xfrm>
            <a:off x="4194233" y="4305868"/>
            <a:ext cx="3943350" cy="2286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5" name="Shape 145"/>
        <p:cNvGrpSpPr/>
        <p:nvPr/>
      </p:nvGrpSpPr>
      <p:grpSpPr>
        <a:xfrm>
          <a:off x="0" y="0"/>
          <a:ext cx="0" cy="0"/>
          <a:chOff x="0" y="0"/>
          <a:chExt cx="0" cy="0"/>
        </a:xfrm>
      </p:grpSpPr>
      <p:sp>
        <p:nvSpPr>
          <p:cNvPr id="146" name="Google Shape;146;p8"/>
          <p:cNvSpPr txBox="1"/>
          <p:nvPr/>
        </p:nvSpPr>
        <p:spPr>
          <a:xfrm>
            <a:off x="197886" y="1922211"/>
            <a:ext cx="5797758" cy="64633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0" i="0" lang="es-ES" sz="1800" u="none" cap="none" strike="noStrike">
                <a:solidFill>
                  <a:schemeClr val="dk1"/>
                </a:solidFill>
                <a:latin typeface="Garamond"/>
                <a:ea typeface="Garamond"/>
                <a:cs typeface="Garamond"/>
                <a:sym typeface="Garamond"/>
              </a:rPr>
              <a:t>Facilitar el agendamiento y programación de citas para los diferentes procesos brindados por la veterinaria.</a:t>
            </a:r>
            <a:endParaRPr b="0" i="0" sz="1800" u="none" cap="none" strike="noStrike">
              <a:solidFill>
                <a:schemeClr val="dk1"/>
              </a:solidFill>
              <a:latin typeface="Garamond"/>
              <a:ea typeface="Garamond"/>
              <a:cs typeface="Garamond"/>
              <a:sym typeface="Garamond"/>
            </a:endParaRPr>
          </a:p>
        </p:txBody>
      </p:sp>
      <p:pic>
        <p:nvPicPr>
          <p:cNvPr descr="We Are Back To The Moon GIF by Pudgy Penguins" id="147" name="Google Shape;147;p8"/>
          <p:cNvPicPr preferRelativeResize="0"/>
          <p:nvPr/>
        </p:nvPicPr>
        <p:blipFill rotWithShape="1">
          <a:blip r:embed="rId4">
            <a:alphaModFix/>
          </a:blip>
          <a:srcRect b="0" l="0" r="0" t="0"/>
          <a:stretch/>
        </p:blipFill>
        <p:spPr>
          <a:xfrm>
            <a:off x="6737324" y="1436614"/>
            <a:ext cx="1635154" cy="1428925"/>
          </a:xfrm>
          <a:prstGeom prst="rect">
            <a:avLst/>
          </a:prstGeom>
          <a:noFill/>
          <a:ln>
            <a:noFill/>
          </a:ln>
        </p:spPr>
      </p:pic>
      <p:sp>
        <p:nvSpPr>
          <p:cNvPr id="148" name="Google Shape;148;p8"/>
          <p:cNvSpPr txBox="1"/>
          <p:nvPr/>
        </p:nvSpPr>
        <p:spPr>
          <a:xfrm>
            <a:off x="5714517" y="3041522"/>
            <a:ext cx="6418800" cy="12006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s-ES" sz="1800">
                <a:solidFill>
                  <a:schemeClr val="dk1"/>
                </a:solidFill>
                <a:latin typeface="Garamond"/>
                <a:ea typeface="Garamond"/>
                <a:cs typeface="Garamond"/>
                <a:sym typeface="Garamond"/>
              </a:rPr>
              <a:t>Gestionar las ventas mediante el registro de transacciones y el control de existencias, con el fin de optimizar la rotación de productos y minimizar las pérdidas económicas por vencimientos o deficiencias en la gestión</a:t>
            </a:r>
            <a:endParaRPr b="0" i="0" sz="1800" u="none" cap="none" strike="noStrike">
              <a:solidFill>
                <a:schemeClr val="dk1"/>
              </a:solidFill>
              <a:latin typeface="Garamond"/>
              <a:ea typeface="Garamond"/>
              <a:cs typeface="Garamond"/>
              <a:sym typeface="Garamond"/>
            </a:endParaRPr>
          </a:p>
        </p:txBody>
      </p:sp>
      <p:sp>
        <p:nvSpPr>
          <p:cNvPr id="149" name="Google Shape;149;p8"/>
          <p:cNvSpPr txBox="1"/>
          <p:nvPr/>
        </p:nvSpPr>
        <p:spPr>
          <a:xfrm>
            <a:off x="5876596" y="5811288"/>
            <a:ext cx="6094602" cy="92333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Noto Sans Symbols"/>
              <a:buChar char="∙"/>
            </a:pPr>
            <a:r>
              <a:rPr b="0" i="0" lang="es-ES" sz="1800" u="none" cap="none" strike="noStrike">
                <a:solidFill>
                  <a:schemeClr val="dk1"/>
                </a:solidFill>
                <a:latin typeface="Garamond"/>
                <a:ea typeface="Garamond"/>
                <a:cs typeface="Garamond"/>
                <a:sym typeface="Garamond"/>
              </a:rPr>
              <a:t>Administrar los procesos de hospitalización, asegurando la continuidad, seguimiento y trazabilidad de los tratamientos de cada mascota ingresada.</a:t>
            </a:r>
            <a:endParaRPr b="0" i="0" sz="1800" u="none" cap="none" strike="noStrike">
              <a:solidFill>
                <a:schemeClr val="dk1"/>
              </a:solidFill>
              <a:latin typeface="Garamond"/>
              <a:ea typeface="Garamond"/>
              <a:cs typeface="Garamond"/>
              <a:sym typeface="Garamond"/>
            </a:endParaRPr>
          </a:p>
        </p:txBody>
      </p:sp>
      <p:sp>
        <p:nvSpPr>
          <p:cNvPr id="150" name="Google Shape;150;p8"/>
          <p:cNvSpPr txBox="1"/>
          <p:nvPr/>
        </p:nvSpPr>
        <p:spPr>
          <a:xfrm>
            <a:off x="239519" y="4513323"/>
            <a:ext cx="6094500" cy="12006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0" i="0" lang="es-ES" sz="1800" u="none" cap="none" strike="noStrike">
                <a:solidFill>
                  <a:schemeClr val="dk1"/>
                </a:solidFill>
                <a:latin typeface="Garamond"/>
                <a:ea typeface="Garamond"/>
                <a:cs typeface="Garamond"/>
                <a:sym typeface="Garamond"/>
              </a:rPr>
              <a:t>Gestionar el control del </a:t>
            </a:r>
            <a:r>
              <a:rPr lang="es-ES" sz="1800">
                <a:solidFill>
                  <a:schemeClr val="dk1"/>
                </a:solidFill>
                <a:latin typeface="Garamond"/>
                <a:ea typeface="Garamond"/>
                <a:cs typeface="Garamond"/>
                <a:sym typeface="Garamond"/>
              </a:rPr>
              <a:t>insumos</a:t>
            </a:r>
            <a:r>
              <a:rPr b="0" i="0" lang="es-ES" sz="1800" u="none" cap="none" strike="noStrike">
                <a:solidFill>
                  <a:schemeClr val="dk1"/>
                </a:solidFill>
                <a:latin typeface="Garamond"/>
                <a:ea typeface="Garamond"/>
                <a:cs typeface="Garamond"/>
                <a:sym typeface="Garamond"/>
              </a:rPr>
              <a:t> de medicamentos, garantizando su disponibilidad, reduciendo el riesgo de caducidad y asegurando una correcta dispensación a las mascotas.</a:t>
            </a:r>
            <a:endParaRPr b="0" i="0" sz="1800" u="none" cap="none" strike="noStrike">
              <a:solidFill>
                <a:schemeClr val="dk1"/>
              </a:solidFill>
              <a:latin typeface="Garamond"/>
              <a:ea typeface="Garamond"/>
              <a:cs typeface="Garamond"/>
              <a:sym typeface="Garamond"/>
            </a:endParaRPr>
          </a:p>
        </p:txBody>
      </p:sp>
      <p:pic>
        <p:nvPicPr>
          <p:cNvPr descr="diseã±o servicios GIF by sanderick" id="151" name="Google Shape;151;p8"/>
          <p:cNvPicPr preferRelativeResize="0"/>
          <p:nvPr/>
        </p:nvPicPr>
        <p:blipFill rotWithShape="1">
          <a:blip r:embed="rId5">
            <a:alphaModFix/>
          </a:blip>
          <a:srcRect b="0" l="0" r="0" t="0"/>
          <a:stretch/>
        </p:blipFill>
        <p:spPr>
          <a:xfrm>
            <a:off x="6737324" y="4226703"/>
            <a:ext cx="1756270" cy="1486949"/>
          </a:xfrm>
          <a:prstGeom prst="rect">
            <a:avLst/>
          </a:prstGeom>
          <a:noFill/>
          <a:ln>
            <a:noFill/>
          </a:ln>
        </p:spPr>
      </p:pic>
      <p:pic>
        <p:nvPicPr>
          <p:cNvPr descr="Hungry Penguin GIF by Pudgy Penguins" id="152" name="Google Shape;152;p8"/>
          <p:cNvPicPr preferRelativeResize="0"/>
          <p:nvPr/>
        </p:nvPicPr>
        <p:blipFill rotWithShape="1">
          <a:blip r:embed="rId6">
            <a:alphaModFix/>
          </a:blip>
          <a:srcRect b="0" l="0" r="0" t="0"/>
          <a:stretch/>
        </p:blipFill>
        <p:spPr>
          <a:xfrm>
            <a:off x="4083136" y="2855162"/>
            <a:ext cx="1371541" cy="1371541"/>
          </a:xfrm>
          <a:prstGeom prst="rect">
            <a:avLst/>
          </a:prstGeom>
          <a:noFill/>
          <a:ln>
            <a:noFill/>
          </a:ln>
        </p:spPr>
      </p:pic>
      <p:sp>
        <p:nvSpPr>
          <p:cNvPr id="153" name="Google Shape;153;p8"/>
          <p:cNvSpPr txBox="1"/>
          <p:nvPr/>
        </p:nvSpPr>
        <p:spPr>
          <a:xfrm>
            <a:off x="2667216" y="437279"/>
            <a:ext cx="6094602"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3000" u="none" cap="none" strike="noStrike">
                <a:solidFill>
                  <a:srgbClr val="4D4D4C"/>
                </a:solidFill>
                <a:latin typeface="Times New Roman"/>
                <a:ea typeface="Times New Roman"/>
                <a:cs typeface="Times New Roman"/>
                <a:sym typeface="Times New Roman"/>
              </a:rPr>
              <a:t>OBJETIVOS </a:t>
            </a:r>
            <a:r>
              <a:rPr b="1" lang="es-ES" sz="3000">
                <a:solidFill>
                  <a:srgbClr val="4D4D4C"/>
                </a:solidFill>
                <a:latin typeface="Times New Roman"/>
                <a:ea typeface="Times New Roman"/>
                <a:cs typeface="Times New Roman"/>
                <a:sym typeface="Times New Roman"/>
              </a:rPr>
              <a:t>ESPECÍFICOS</a:t>
            </a:r>
            <a:endParaRPr b="1" i="0" sz="3000" u="none" cap="none" strike="noStrike">
              <a:solidFill>
                <a:schemeClr val="lt1"/>
              </a:solidFill>
              <a:latin typeface="Work Sans"/>
              <a:ea typeface="Work Sans"/>
              <a:cs typeface="Work Sans"/>
              <a:sym typeface="Work Sans"/>
            </a:endParaRPr>
          </a:p>
        </p:txBody>
      </p:sp>
      <p:cxnSp>
        <p:nvCxnSpPr>
          <p:cNvPr id="154" name="Google Shape;154;p8"/>
          <p:cNvCxnSpPr/>
          <p:nvPr/>
        </p:nvCxnSpPr>
        <p:spPr>
          <a:xfrm>
            <a:off x="4187432" y="1096740"/>
            <a:ext cx="3173482" cy="0"/>
          </a:xfrm>
          <a:prstGeom prst="straightConnector1">
            <a:avLst/>
          </a:prstGeom>
          <a:noFill/>
          <a:ln cap="flat" cmpd="sng" w="12700">
            <a:solidFill>
              <a:srgbClr val="38AA00"/>
            </a:solidFill>
            <a:prstDash val="solid"/>
            <a:miter lim="800000"/>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8" name="Shape 158"/>
        <p:cNvGrpSpPr/>
        <p:nvPr/>
      </p:nvGrpSpPr>
      <p:grpSpPr>
        <a:xfrm>
          <a:off x="0" y="0"/>
          <a:ext cx="0" cy="0"/>
          <a:chOff x="0" y="0"/>
          <a:chExt cx="0" cy="0"/>
        </a:xfrm>
      </p:grpSpPr>
      <p:sp>
        <p:nvSpPr>
          <p:cNvPr id="159" name="Google Shape;159;p9"/>
          <p:cNvSpPr txBox="1"/>
          <p:nvPr/>
        </p:nvSpPr>
        <p:spPr>
          <a:xfrm>
            <a:off x="516098" y="1789066"/>
            <a:ext cx="7607400" cy="4094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ES" sz="2000" u="none" cap="none" strike="noStrike">
                <a:solidFill>
                  <a:schemeClr val="dk1"/>
                </a:solidFill>
                <a:latin typeface="Garamond"/>
                <a:ea typeface="Garamond"/>
                <a:cs typeface="Garamond"/>
                <a:sym typeface="Garamond"/>
              </a:rPr>
              <a:t>El proyecto consiste en desarrollar e implementar, en un periodo de 21 meses, un Sistema de Información para la clínica veterinaria Zoolomascotas MX, con el propósito de digitalizar y organizar la gestión de mascotas, propietarios, citas, historiales clínicos, hospitalización, tratamientos, in</a:t>
            </a:r>
            <a:r>
              <a:rPr lang="es-ES" sz="2000">
                <a:solidFill>
                  <a:schemeClr val="dk1"/>
                </a:solidFill>
                <a:latin typeface="Garamond"/>
                <a:ea typeface="Garamond"/>
                <a:cs typeface="Garamond"/>
                <a:sym typeface="Garamond"/>
              </a:rPr>
              <a:t>sumo</a:t>
            </a:r>
            <a:r>
              <a:rPr b="0" i="0" lang="es-ES" sz="2000" u="none" cap="none" strike="noStrike">
                <a:solidFill>
                  <a:schemeClr val="dk1"/>
                </a:solidFill>
                <a:latin typeface="Garamond"/>
                <a:ea typeface="Garamond"/>
                <a:cs typeface="Garamond"/>
                <a:sym typeface="Garamond"/>
              </a:rPr>
              <a:t> de medicamentos y ventas, resolviendo así las ineficiencias operativas identificadas.</a:t>
            </a:r>
            <a:endParaRPr/>
          </a:p>
          <a:p>
            <a:pPr indent="0" lvl="0" marL="0" marR="0" rtl="0" algn="ctr">
              <a:spcBef>
                <a:spcPts val="0"/>
              </a:spcBef>
              <a:spcAft>
                <a:spcPts val="0"/>
              </a:spcAft>
              <a:buNone/>
            </a:pPr>
            <a:r>
              <a:t/>
            </a:r>
            <a:endParaRPr b="0" i="0" sz="2000" u="none" cap="none" strike="noStrike">
              <a:solidFill>
                <a:schemeClr val="dk1"/>
              </a:solidFill>
              <a:latin typeface="Garamond"/>
              <a:ea typeface="Garamond"/>
              <a:cs typeface="Garamond"/>
              <a:sym typeface="Garamond"/>
            </a:endParaRPr>
          </a:p>
          <a:p>
            <a:pPr indent="0" lvl="0" marL="0" marR="0" rtl="0" algn="ctr">
              <a:spcBef>
                <a:spcPts val="0"/>
              </a:spcBef>
              <a:spcAft>
                <a:spcPts val="0"/>
              </a:spcAft>
              <a:buNone/>
            </a:pPr>
            <a:r>
              <a:rPr b="0" i="0" lang="es-ES" sz="2000" u="none" cap="none" strike="noStrike">
                <a:solidFill>
                  <a:schemeClr val="dk1"/>
                </a:solidFill>
                <a:latin typeface="Garamond"/>
                <a:ea typeface="Garamond"/>
                <a:cs typeface="Garamond"/>
                <a:sym typeface="Garamond"/>
              </a:rPr>
              <a:t>El sistema incluirá funcionalidades como registros digitales, módulo de Punto de Venta (POS), alertas automáticas y generación de reportes para apoyar los procesos clínicos y administrativos internos. Este alcance no contempla módulos de contabilidad financiera externa, nómina de personal, centrándose exclusivamente en las actividades de atención al cliente, manejo clínico y operaciones internas de la veterinaria.</a:t>
            </a:r>
            <a:endParaRPr/>
          </a:p>
        </p:txBody>
      </p:sp>
      <p:sp>
        <p:nvSpPr>
          <p:cNvPr id="160" name="Google Shape;160;p9"/>
          <p:cNvSpPr txBox="1"/>
          <p:nvPr/>
        </p:nvSpPr>
        <p:spPr>
          <a:xfrm>
            <a:off x="1201724" y="447036"/>
            <a:ext cx="6094602"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3000" u="none" cap="none" strike="noStrike">
                <a:solidFill>
                  <a:srgbClr val="4D4D4C"/>
                </a:solidFill>
                <a:latin typeface="Times New Roman"/>
                <a:ea typeface="Times New Roman"/>
                <a:cs typeface="Times New Roman"/>
                <a:sym typeface="Times New Roman"/>
              </a:rPr>
              <a:t>DELIMITACIÓN Y ALCANCE</a:t>
            </a:r>
            <a:endParaRPr b="1" i="0" sz="3000" u="none" cap="none" strike="noStrike">
              <a:solidFill>
                <a:schemeClr val="lt1"/>
              </a:solidFill>
              <a:latin typeface="Work Sans"/>
              <a:ea typeface="Work Sans"/>
              <a:cs typeface="Work Sans"/>
              <a:sym typeface="Work Sans"/>
            </a:endParaRPr>
          </a:p>
        </p:txBody>
      </p:sp>
      <p:cxnSp>
        <p:nvCxnSpPr>
          <p:cNvPr id="161" name="Google Shape;161;p9"/>
          <p:cNvCxnSpPr/>
          <p:nvPr/>
        </p:nvCxnSpPr>
        <p:spPr>
          <a:xfrm>
            <a:off x="516098" y="1138806"/>
            <a:ext cx="7705113" cy="0"/>
          </a:xfrm>
          <a:prstGeom prst="straightConnector1">
            <a:avLst/>
          </a:prstGeom>
          <a:noFill/>
          <a:ln cap="flat" cmpd="sng" w="12700">
            <a:solidFill>
              <a:srgbClr val="38AA00"/>
            </a:solidFill>
            <a:prstDash val="solid"/>
            <a:miter lim="800000"/>
            <a:headEnd len="sm" w="sm" type="none"/>
            <a:tailEnd len="sm" w="sm" type="none"/>
          </a:ln>
        </p:spPr>
      </p:cxnSp>
      <p:pic>
        <p:nvPicPr>
          <p:cNvPr descr="Stickers de Veterinario - Stickers de animales gratis" id="162" name="Google Shape;162;p9"/>
          <p:cNvPicPr preferRelativeResize="0"/>
          <p:nvPr/>
        </p:nvPicPr>
        <p:blipFill rotWithShape="1">
          <a:blip r:embed="rId4">
            <a:alphaModFix/>
          </a:blip>
          <a:srcRect b="0" l="0" r="0" t="0"/>
          <a:stretch/>
        </p:blipFill>
        <p:spPr>
          <a:xfrm>
            <a:off x="8761551" y="2116490"/>
            <a:ext cx="3130804" cy="313080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6" name="Shape 166"/>
        <p:cNvGrpSpPr/>
        <p:nvPr/>
      </p:nvGrpSpPr>
      <p:grpSpPr>
        <a:xfrm>
          <a:off x="0" y="0"/>
          <a:ext cx="0" cy="0"/>
          <a:chOff x="0" y="0"/>
          <a:chExt cx="0" cy="0"/>
        </a:xfrm>
      </p:grpSpPr>
      <p:sp>
        <p:nvSpPr>
          <p:cNvPr id="167" name="Google Shape;167;p10"/>
          <p:cNvSpPr txBox="1"/>
          <p:nvPr/>
        </p:nvSpPr>
        <p:spPr>
          <a:xfrm>
            <a:off x="79672" y="2826522"/>
            <a:ext cx="12032655" cy="86177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5000" u="none" cap="none" strike="noStrike">
                <a:solidFill>
                  <a:srgbClr val="4D4D4C"/>
                </a:solidFill>
                <a:latin typeface="Times New Roman"/>
                <a:ea typeface="Times New Roman"/>
                <a:cs typeface="Times New Roman"/>
                <a:sym typeface="Times New Roman"/>
              </a:rPr>
              <a:t>DIAGRAMA DE PROCESOS</a:t>
            </a:r>
            <a:endParaRPr b="1" i="0" sz="7200" u="none" cap="none" strike="noStrike">
              <a:solidFill>
                <a:schemeClr val="lt1"/>
              </a:solidFill>
              <a:latin typeface="Work Sans"/>
              <a:ea typeface="Work Sans"/>
              <a:cs typeface="Work Sans"/>
              <a:sym typeface="Work Sans"/>
            </a:endParaRPr>
          </a:p>
        </p:txBody>
      </p:sp>
      <p:cxnSp>
        <p:nvCxnSpPr>
          <p:cNvPr id="168" name="Google Shape;168;p10"/>
          <p:cNvCxnSpPr/>
          <p:nvPr/>
        </p:nvCxnSpPr>
        <p:spPr>
          <a:xfrm>
            <a:off x="1034451" y="3949416"/>
            <a:ext cx="10533967" cy="0"/>
          </a:xfrm>
          <a:prstGeom prst="straightConnector1">
            <a:avLst/>
          </a:prstGeom>
          <a:noFill/>
          <a:ln cap="flat" cmpd="sng" w="12700">
            <a:solidFill>
              <a:schemeClr val="lt1"/>
            </a:solidFill>
            <a:prstDash val="solid"/>
            <a:miter lim="800000"/>
            <a:headEnd len="sm" w="sm" type="none"/>
            <a:tailEnd len="sm" w="sm" type="none"/>
          </a:ln>
        </p:spPr>
      </p:cxnSp>
      <p:pic>
        <p:nvPicPr>
          <p:cNvPr descr="molecules GIF by David Pohl" id="169" name="Google Shape;169;p10"/>
          <p:cNvPicPr preferRelativeResize="0"/>
          <p:nvPr/>
        </p:nvPicPr>
        <p:blipFill rotWithShape="1">
          <a:blip r:embed="rId4">
            <a:alphaModFix/>
          </a:blip>
          <a:srcRect b="0" l="0" r="0" t="0"/>
          <a:stretch/>
        </p:blipFill>
        <p:spPr>
          <a:xfrm>
            <a:off x="4181059" y="4210537"/>
            <a:ext cx="3829879" cy="23398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3" name="Shape 173"/>
        <p:cNvGrpSpPr/>
        <p:nvPr/>
      </p:nvGrpSpPr>
      <p:grpSpPr>
        <a:xfrm>
          <a:off x="0" y="0"/>
          <a:ext cx="0" cy="0"/>
          <a:chOff x="0" y="0"/>
          <a:chExt cx="0" cy="0"/>
        </a:xfrm>
      </p:grpSpPr>
      <p:sp>
        <p:nvSpPr>
          <p:cNvPr id="174" name="Google Shape;174;p11"/>
          <p:cNvSpPr txBox="1"/>
          <p:nvPr/>
        </p:nvSpPr>
        <p:spPr>
          <a:xfrm>
            <a:off x="416480" y="456446"/>
            <a:ext cx="9815809" cy="52787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4D4D4C"/>
              </a:buClr>
              <a:buSzPts val="5000"/>
              <a:buFont typeface="Times New Roman"/>
              <a:buNone/>
            </a:pPr>
            <a:r>
              <a:rPr b="1" i="0" lang="es-ES" sz="5000" u="none" cap="none" strike="noStrike">
                <a:solidFill>
                  <a:srgbClr val="4D4D4C"/>
                </a:solidFill>
                <a:latin typeface="Times New Roman"/>
                <a:ea typeface="Times New Roman"/>
                <a:cs typeface="Times New Roman"/>
                <a:sym typeface="Times New Roman"/>
              </a:rPr>
              <a:t>CLIENTE</a:t>
            </a:r>
            <a:endParaRPr/>
          </a:p>
          <a:p>
            <a:pPr indent="0" lvl="0" marL="0" marR="0" rtl="0" algn="l">
              <a:lnSpc>
                <a:spcPct val="90000"/>
              </a:lnSpc>
              <a:spcBef>
                <a:spcPts val="0"/>
              </a:spcBef>
              <a:spcAft>
                <a:spcPts val="0"/>
              </a:spcAft>
              <a:buClr>
                <a:schemeClr val="dk1"/>
              </a:buClr>
              <a:buSzPts val="3600"/>
              <a:buFont typeface="Calibri"/>
              <a:buNone/>
            </a:pPr>
            <a:r>
              <a:t/>
            </a:r>
            <a:endParaRPr b="1" i="0" sz="3600" u="none" cap="none" strike="noStrike">
              <a:solidFill>
                <a:srgbClr val="FFFFFF"/>
              </a:solidFill>
              <a:latin typeface="Work Sans"/>
              <a:ea typeface="Work Sans"/>
              <a:cs typeface="Work Sans"/>
              <a:sym typeface="Work Sans"/>
            </a:endParaRPr>
          </a:p>
        </p:txBody>
      </p:sp>
      <p:pic>
        <p:nvPicPr>
          <p:cNvPr descr="Movie gif. A newly hatched baby Private from Penguins of Madagascar, still wearing the top of his eggshell on his head, gives us a friendly wave." id="175" name="Google Shape;175;p11"/>
          <p:cNvPicPr preferRelativeResize="0"/>
          <p:nvPr/>
        </p:nvPicPr>
        <p:blipFill rotWithShape="1">
          <a:blip r:embed="rId4">
            <a:alphaModFix/>
          </a:blip>
          <a:srcRect b="0" l="0" r="0" t="0"/>
          <a:stretch/>
        </p:blipFill>
        <p:spPr>
          <a:xfrm>
            <a:off x="9712208" y="2305228"/>
            <a:ext cx="2247544" cy="2247544"/>
          </a:xfrm>
          <a:prstGeom prst="rect">
            <a:avLst/>
          </a:prstGeom>
          <a:noFill/>
          <a:ln>
            <a:noFill/>
          </a:ln>
        </p:spPr>
      </p:pic>
      <p:pic>
        <p:nvPicPr>
          <p:cNvPr id="176" name="Google Shape;176;p11"/>
          <p:cNvPicPr preferRelativeResize="0"/>
          <p:nvPr/>
        </p:nvPicPr>
        <p:blipFill rotWithShape="1">
          <a:blip r:embed="rId5">
            <a:alphaModFix/>
          </a:blip>
          <a:srcRect b="359" l="0" r="58014" t="1"/>
          <a:stretch/>
        </p:blipFill>
        <p:spPr>
          <a:xfrm>
            <a:off x="416480" y="1789859"/>
            <a:ext cx="7840942" cy="40589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0" name="Shape 180"/>
        <p:cNvGrpSpPr/>
        <p:nvPr/>
      </p:nvGrpSpPr>
      <p:grpSpPr>
        <a:xfrm>
          <a:off x="0" y="0"/>
          <a:ext cx="0" cy="0"/>
          <a:chOff x="0" y="0"/>
          <a:chExt cx="0" cy="0"/>
        </a:xfrm>
      </p:grpSpPr>
      <p:sp>
        <p:nvSpPr>
          <p:cNvPr id="181" name="Google Shape;181;p12"/>
          <p:cNvSpPr txBox="1"/>
          <p:nvPr/>
        </p:nvSpPr>
        <p:spPr>
          <a:xfrm>
            <a:off x="416480" y="456446"/>
            <a:ext cx="9815809" cy="52787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4D4D4C"/>
              </a:buClr>
              <a:buSzPts val="5000"/>
              <a:buFont typeface="Times New Roman"/>
              <a:buNone/>
            </a:pPr>
            <a:r>
              <a:rPr b="1" i="0" lang="es-ES" sz="5000" u="none" cap="none" strike="noStrike">
                <a:solidFill>
                  <a:srgbClr val="4D4D4C"/>
                </a:solidFill>
                <a:latin typeface="Times New Roman"/>
                <a:ea typeface="Times New Roman"/>
                <a:cs typeface="Times New Roman"/>
                <a:sym typeface="Times New Roman"/>
              </a:rPr>
              <a:t>RECEPCIONISTA</a:t>
            </a:r>
            <a:endParaRPr/>
          </a:p>
          <a:p>
            <a:pPr indent="0" lvl="0" marL="0" marR="0" rtl="0" algn="l">
              <a:lnSpc>
                <a:spcPct val="90000"/>
              </a:lnSpc>
              <a:spcBef>
                <a:spcPts val="0"/>
              </a:spcBef>
              <a:spcAft>
                <a:spcPts val="0"/>
              </a:spcAft>
              <a:buClr>
                <a:schemeClr val="dk1"/>
              </a:buClr>
              <a:buSzPts val="3600"/>
              <a:buFont typeface="Calibri"/>
              <a:buNone/>
            </a:pPr>
            <a:r>
              <a:t/>
            </a:r>
            <a:endParaRPr b="1" i="0" sz="3600" u="none" cap="none" strike="noStrike">
              <a:solidFill>
                <a:srgbClr val="FFFFFF"/>
              </a:solidFill>
              <a:latin typeface="Work Sans"/>
              <a:ea typeface="Work Sans"/>
              <a:cs typeface="Work Sans"/>
              <a:sym typeface="Work Sans"/>
            </a:endParaRPr>
          </a:p>
        </p:txBody>
      </p:sp>
      <p:pic>
        <p:nvPicPr>
          <p:cNvPr id="182" name="Google Shape;182;p12"/>
          <p:cNvPicPr preferRelativeResize="0"/>
          <p:nvPr/>
        </p:nvPicPr>
        <p:blipFill>
          <a:blip r:embed="rId4">
            <a:alphaModFix/>
          </a:blip>
          <a:stretch>
            <a:fillRect/>
          </a:stretch>
        </p:blipFill>
        <p:spPr>
          <a:xfrm>
            <a:off x="86925" y="1595925"/>
            <a:ext cx="12018150" cy="4587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6" name="Shape 186"/>
        <p:cNvGrpSpPr/>
        <p:nvPr/>
      </p:nvGrpSpPr>
      <p:grpSpPr>
        <a:xfrm>
          <a:off x="0" y="0"/>
          <a:ext cx="0" cy="0"/>
          <a:chOff x="0" y="0"/>
          <a:chExt cx="0" cy="0"/>
        </a:xfrm>
      </p:grpSpPr>
      <p:sp>
        <p:nvSpPr>
          <p:cNvPr id="187" name="Google Shape;187;p13"/>
          <p:cNvSpPr txBox="1"/>
          <p:nvPr/>
        </p:nvSpPr>
        <p:spPr>
          <a:xfrm>
            <a:off x="416480" y="456446"/>
            <a:ext cx="9815809" cy="52787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4D4D4C"/>
              </a:buClr>
              <a:buSzPts val="5000"/>
              <a:buFont typeface="Times New Roman"/>
              <a:buNone/>
            </a:pPr>
            <a:r>
              <a:rPr b="1" i="0" lang="es-ES" sz="5000" u="none" cap="none" strike="noStrike">
                <a:solidFill>
                  <a:srgbClr val="4D4D4C"/>
                </a:solidFill>
                <a:latin typeface="Times New Roman"/>
                <a:ea typeface="Times New Roman"/>
                <a:cs typeface="Times New Roman"/>
                <a:sym typeface="Times New Roman"/>
              </a:rPr>
              <a:t>VETERINARIO</a:t>
            </a:r>
            <a:endParaRPr/>
          </a:p>
          <a:p>
            <a:pPr indent="0" lvl="0" marL="0" marR="0" rtl="0" algn="l">
              <a:lnSpc>
                <a:spcPct val="90000"/>
              </a:lnSpc>
              <a:spcBef>
                <a:spcPts val="0"/>
              </a:spcBef>
              <a:spcAft>
                <a:spcPts val="0"/>
              </a:spcAft>
              <a:buClr>
                <a:schemeClr val="dk1"/>
              </a:buClr>
              <a:buSzPts val="3600"/>
              <a:buFont typeface="Calibri"/>
              <a:buNone/>
            </a:pPr>
            <a:r>
              <a:t/>
            </a:r>
            <a:endParaRPr b="1" i="0" sz="3600" u="none" cap="none" strike="noStrike">
              <a:solidFill>
                <a:srgbClr val="FFFFFF"/>
              </a:solidFill>
              <a:latin typeface="Work Sans"/>
              <a:ea typeface="Work Sans"/>
              <a:cs typeface="Work Sans"/>
              <a:sym typeface="Work Sans"/>
            </a:endParaRPr>
          </a:p>
        </p:txBody>
      </p:sp>
      <p:pic>
        <p:nvPicPr>
          <p:cNvPr descr="portrait vet dog spaniel on a gray background" id="188" name="Google Shape;188;p13"/>
          <p:cNvPicPr preferRelativeResize="0"/>
          <p:nvPr/>
        </p:nvPicPr>
        <p:blipFill rotWithShape="1">
          <a:blip r:embed="rId4">
            <a:alphaModFix/>
          </a:blip>
          <a:srcRect b="0" l="0" r="0" t="0"/>
          <a:stretch/>
        </p:blipFill>
        <p:spPr>
          <a:xfrm>
            <a:off x="6221815" y="1328150"/>
            <a:ext cx="5712300" cy="4230900"/>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89" name="Google Shape;189;p13"/>
          <p:cNvPicPr preferRelativeResize="0"/>
          <p:nvPr/>
        </p:nvPicPr>
        <p:blipFill>
          <a:blip r:embed="rId5">
            <a:alphaModFix/>
          </a:blip>
          <a:stretch>
            <a:fillRect/>
          </a:stretch>
        </p:blipFill>
        <p:spPr>
          <a:xfrm>
            <a:off x="84825" y="1260576"/>
            <a:ext cx="5790825" cy="55339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3" name="Shape 193"/>
        <p:cNvGrpSpPr/>
        <p:nvPr/>
      </p:nvGrpSpPr>
      <p:grpSpPr>
        <a:xfrm>
          <a:off x="0" y="0"/>
          <a:ext cx="0" cy="0"/>
          <a:chOff x="0" y="0"/>
          <a:chExt cx="0" cy="0"/>
        </a:xfrm>
      </p:grpSpPr>
      <p:sp>
        <p:nvSpPr>
          <p:cNvPr id="194" name="Google Shape;194;p14"/>
          <p:cNvSpPr txBox="1"/>
          <p:nvPr/>
        </p:nvSpPr>
        <p:spPr>
          <a:xfrm>
            <a:off x="79672" y="2826522"/>
            <a:ext cx="12032655" cy="86177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5000" u="none" cap="none" strike="noStrike">
                <a:solidFill>
                  <a:srgbClr val="4D4D4C"/>
                </a:solidFill>
                <a:latin typeface="Times New Roman"/>
                <a:ea typeface="Times New Roman"/>
                <a:cs typeface="Times New Roman"/>
                <a:sym typeface="Times New Roman"/>
              </a:rPr>
              <a:t>RECOLECCIÓN DE DATOS</a:t>
            </a:r>
            <a:endParaRPr/>
          </a:p>
        </p:txBody>
      </p:sp>
      <p:cxnSp>
        <p:nvCxnSpPr>
          <p:cNvPr id="195" name="Google Shape;195;p14"/>
          <p:cNvCxnSpPr/>
          <p:nvPr/>
        </p:nvCxnSpPr>
        <p:spPr>
          <a:xfrm>
            <a:off x="1093174" y="3999750"/>
            <a:ext cx="10533967" cy="0"/>
          </a:xfrm>
          <a:prstGeom prst="straightConnector1">
            <a:avLst/>
          </a:prstGeom>
          <a:noFill/>
          <a:ln cap="flat" cmpd="sng" w="12700">
            <a:solidFill>
              <a:schemeClr val="lt1"/>
            </a:solidFill>
            <a:prstDash val="solid"/>
            <a:miter lim="800000"/>
            <a:headEnd len="sm" w="sm" type="none"/>
            <a:tailEnd len="sm" w="sm" type="none"/>
          </a:ln>
        </p:spPr>
      </p:cxnSp>
      <p:pic>
        <p:nvPicPr>
          <p:cNvPr descr="Orange Archive Sticker by Kyocera" id="196" name="Google Shape;196;p14"/>
          <p:cNvPicPr preferRelativeResize="0"/>
          <p:nvPr/>
        </p:nvPicPr>
        <p:blipFill rotWithShape="1">
          <a:blip r:embed="rId4">
            <a:alphaModFix/>
          </a:blip>
          <a:srcRect b="0" l="0" r="0" t="0"/>
          <a:stretch/>
        </p:blipFill>
        <p:spPr>
          <a:xfrm>
            <a:off x="4224129" y="3429000"/>
            <a:ext cx="3743739" cy="374373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0" name="Shape 200"/>
        <p:cNvGrpSpPr/>
        <p:nvPr/>
      </p:nvGrpSpPr>
      <p:grpSpPr>
        <a:xfrm>
          <a:off x="0" y="0"/>
          <a:ext cx="0" cy="0"/>
          <a:chOff x="0" y="0"/>
          <a:chExt cx="0" cy="0"/>
        </a:xfrm>
      </p:grpSpPr>
      <p:sp>
        <p:nvSpPr>
          <p:cNvPr id="201" name="Google Shape;201;p15"/>
          <p:cNvSpPr txBox="1"/>
          <p:nvPr/>
        </p:nvSpPr>
        <p:spPr>
          <a:xfrm>
            <a:off x="605405" y="464024"/>
            <a:ext cx="10981189" cy="6771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3800" u="none" cap="none" strike="noStrike">
                <a:solidFill>
                  <a:srgbClr val="4D4D4C"/>
                </a:solidFill>
                <a:latin typeface="Times New Roman"/>
                <a:ea typeface="Times New Roman"/>
                <a:cs typeface="Times New Roman"/>
                <a:sym typeface="Times New Roman"/>
              </a:rPr>
              <a:t>DATOS DE ENCUESTA</a:t>
            </a:r>
            <a:endParaRPr/>
          </a:p>
        </p:txBody>
      </p:sp>
      <p:cxnSp>
        <p:nvCxnSpPr>
          <p:cNvPr id="202" name="Google Shape;202;p15"/>
          <p:cNvCxnSpPr/>
          <p:nvPr/>
        </p:nvCxnSpPr>
        <p:spPr>
          <a:xfrm>
            <a:off x="2561188" y="1261884"/>
            <a:ext cx="8067054" cy="0"/>
          </a:xfrm>
          <a:prstGeom prst="straightConnector1">
            <a:avLst/>
          </a:prstGeom>
          <a:noFill/>
          <a:ln cap="flat" cmpd="sng" w="12700">
            <a:solidFill>
              <a:srgbClr val="38AA00"/>
            </a:solidFill>
            <a:prstDash val="solid"/>
            <a:miter lim="800000"/>
            <a:headEnd len="sm" w="sm" type="none"/>
            <a:tailEnd len="sm" w="sm" type="none"/>
          </a:ln>
        </p:spPr>
      </p:cxnSp>
      <p:pic>
        <p:nvPicPr>
          <p:cNvPr id="203" name="Google Shape;203;p15"/>
          <p:cNvPicPr preferRelativeResize="0"/>
          <p:nvPr/>
        </p:nvPicPr>
        <p:blipFill rotWithShape="1">
          <a:blip r:embed="rId4">
            <a:alphaModFix/>
          </a:blip>
          <a:srcRect b="0" l="0" r="0" t="0"/>
          <a:stretch/>
        </p:blipFill>
        <p:spPr>
          <a:xfrm>
            <a:off x="6755084" y="2429468"/>
            <a:ext cx="4954271" cy="3166648"/>
          </a:xfrm>
          <a:prstGeom prst="rect">
            <a:avLst/>
          </a:prstGeom>
          <a:noFill/>
          <a:ln>
            <a:noFill/>
          </a:ln>
        </p:spPr>
      </p:pic>
      <p:pic>
        <p:nvPicPr>
          <p:cNvPr descr="Point Highlight Sticker by CLASS101" id="204" name="Google Shape;204;p15"/>
          <p:cNvPicPr preferRelativeResize="0"/>
          <p:nvPr/>
        </p:nvPicPr>
        <p:blipFill rotWithShape="1">
          <a:blip r:embed="rId5">
            <a:alphaModFix/>
          </a:blip>
          <a:srcRect b="0" l="0" r="0" t="0"/>
          <a:stretch/>
        </p:blipFill>
        <p:spPr>
          <a:xfrm>
            <a:off x="605405" y="1141132"/>
            <a:ext cx="4352925" cy="4572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8" name="Shape 208"/>
        <p:cNvGrpSpPr/>
        <p:nvPr/>
      </p:nvGrpSpPr>
      <p:grpSpPr>
        <a:xfrm>
          <a:off x="0" y="0"/>
          <a:ext cx="0" cy="0"/>
          <a:chOff x="0" y="0"/>
          <a:chExt cx="0" cy="0"/>
        </a:xfrm>
      </p:grpSpPr>
      <p:sp>
        <p:nvSpPr>
          <p:cNvPr id="209" name="Google Shape;209;p16"/>
          <p:cNvSpPr txBox="1"/>
          <p:nvPr/>
        </p:nvSpPr>
        <p:spPr>
          <a:xfrm>
            <a:off x="1199321" y="376056"/>
            <a:ext cx="9793357" cy="12618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3800" u="none" cap="none" strike="noStrike">
                <a:solidFill>
                  <a:srgbClr val="4D4D4C"/>
                </a:solidFill>
                <a:latin typeface="Times New Roman"/>
                <a:ea typeface="Times New Roman"/>
                <a:cs typeface="Times New Roman"/>
                <a:sym typeface="Times New Roman"/>
              </a:rPr>
              <a:t>¿Cómo agendas actualmente tus citas en la veterinaria? </a:t>
            </a:r>
            <a:endParaRPr/>
          </a:p>
        </p:txBody>
      </p:sp>
      <p:cxnSp>
        <p:nvCxnSpPr>
          <p:cNvPr id="210" name="Google Shape;210;p16"/>
          <p:cNvCxnSpPr/>
          <p:nvPr/>
        </p:nvCxnSpPr>
        <p:spPr>
          <a:xfrm>
            <a:off x="2301011" y="1637940"/>
            <a:ext cx="7589976" cy="0"/>
          </a:xfrm>
          <a:prstGeom prst="straightConnector1">
            <a:avLst/>
          </a:prstGeom>
          <a:noFill/>
          <a:ln cap="flat" cmpd="sng" w="12700">
            <a:solidFill>
              <a:srgbClr val="38AA00"/>
            </a:solidFill>
            <a:prstDash val="solid"/>
            <a:miter lim="800000"/>
            <a:headEnd len="sm" w="sm" type="none"/>
            <a:tailEnd len="sm" w="sm" type="none"/>
          </a:ln>
        </p:spPr>
      </p:cxnSp>
      <p:graphicFrame>
        <p:nvGraphicFramePr>
          <p:cNvPr id="211" name="Google Shape;211;p16"/>
          <p:cNvGraphicFramePr/>
          <p:nvPr/>
        </p:nvGraphicFramePr>
        <p:xfrm>
          <a:off x="2378764" y="2057399"/>
          <a:ext cx="7734227" cy="4424545"/>
        </p:xfrm>
        <a:graphic>
          <a:graphicData uri="http://schemas.openxmlformats.org/drawingml/2006/chart">
            <c:chart r:id="rId4"/>
          </a:graphicData>
        </a:graphic>
      </p:graphicFrame>
      <p:pic>
        <p:nvPicPr>
          <p:cNvPr descr="Illustration Love GIF by The Creamlovers" id="212" name="Google Shape;212;p16"/>
          <p:cNvPicPr preferRelativeResize="0"/>
          <p:nvPr/>
        </p:nvPicPr>
        <p:blipFill rotWithShape="1">
          <a:blip r:embed="rId5">
            <a:alphaModFix/>
          </a:blip>
          <a:srcRect b="0" l="0" r="0" t="0"/>
          <a:stretch/>
        </p:blipFill>
        <p:spPr>
          <a:xfrm>
            <a:off x="675860" y="4576944"/>
            <a:ext cx="2543175" cy="1905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6" name="Shape 216"/>
        <p:cNvGrpSpPr/>
        <p:nvPr/>
      </p:nvGrpSpPr>
      <p:grpSpPr>
        <a:xfrm>
          <a:off x="0" y="0"/>
          <a:ext cx="0" cy="0"/>
          <a:chOff x="0" y="0"/>
          <a:chExt cx="0" cy="0"/>
        </a:xfrm>
      </p:grpSpPr>
      <p:sp>
        <p:nvSpPr>
          <p:cNvPr id="217" name="Google Shape;217;p17"/>
          <p:cNvSpPr txBox="1"/>
          <p:nvPr/>
        </p:nvSpPr>
        <p:spPr>
          <a:xfrm>
            <a:off x="605405" y="152815"/>
            <a:ext cx="10804718" cy="12618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3800" u="none" cap="none" strike="noStrike">
                <a:solidFill>
                  <a:srgbClr val="4D4D4C"/>
                </a:solidFill>
                <a:latin typeface="Times New Roman"/>
                <a:ea typeface="Times New Roman"/>
                <a:cs typeface="Times New Roman"/>
                <a:sym typeface="Times New Roman"/>
              </a:rPr>
              <a:t>¿Cuales son los servicios que más utilizas en la veterinaria?</a:t>
            </a:r>
            <a:endParaRPr/>
          </a:p>
        </p:txBody>
      </p:sp>
      <p:cxnSp>
        <p:nvCxnSpPr>
          <p:cNvPr id="218" name="Google Shape;218;p17"/>
          <p:cNvCxnSpPr/>
          <p:nvPr/>
        </p:nvCxnSpPr>
        <p:spPr>
          <a:xfrm>
            <a:off x="2388910" y="1293334"/>
            <a:ext cx="7868273" cy="0"/>
          </a:xfrm>
          <a:prstGeom prst="straightConnector1">
            <a:avLst/>
          </a:prstGeom>
          <a:noFill/>
          <a:ln cap="flat" cmpd="sng" w="12700">
            <a:solidFill>
              <a:srgbClr val="38AA00"/>
            </a:solidFill>
            <a:prstDash val="solid"/>
            <a:miter lim="800000"/>
            <a:headEnd len="sm" w="sm" type="none"/>
            <a:tailEnd len="sm" w="sm" type="none"/>
          </a:ln>
        </p:spPr>
      </p:cxnSp>
      <p:graphicFrame>
        <p:nvGraphicFramePr>
          <p:cNvPr id="219" name="Google Shape;219;p17"/>
          <p:cNvGraphicFramePr/>
          <p:nvPr/>
        </p:nvGraphicFramePr>
        <p:xfrm>
          <a:off x="1630017" y="1544585"/>
          <a:ext cx="8987941" cy="5160600"/>
        </p:xfrm>
        <a:graphic>
          <a:graphicData uri="http://schemas.openxmlformats.org/drawingml/2006/chart">
            <c:chart r:id="rId4"/>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3" name="Shape 223"/>
        <p:cNvGrpSpPr/>
        <p:nvPr/>
      </p:nvGrpSpPr>
      <p:grpSpPr>
        <a:xfrm>
          <a:off x="0" y="0"/>
          <a:ext cx="0" cy="0"/>
          <a:chOff x="0" y="0"/>
          <a:chExt cx="0" cy="0"/>
        </a:xfrm>
      </p:grpSpPr>
      <p:sp>
        <p:nvSpPr>
          <p:cNvPr id="224" name="Google Shape;224;p18"/>
          <p:cNvSpPr txBox="1"/>
          <p:nvPr/>
        </p:nvSpPr>
        <p:spPr>
          <a:xfrm>
            <a:off x="605402" y="-56324"/>
            <a:ext cx="10981189" cy="12618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3800" u="none" cap="none" strike="noStrike">
                <a:solidFill>
                  <a:srgbClr val="4D4D4C"/>
                </a:solidFill>
                <a:latin typeface="Times New Roman"/>
                <a:ea typeface="Times New Roman"/>
                <a:cs typeface="Times New Roman"/>
                <a:sym typeface="Times New Roman"/>
              </a:rPr>
              <a:t>¿Te gustaría poder comprar productos en línea y recibirlos en tu domicilio? </a:t>
            </a:r>
            <a:endParaRPr b="1" i="0" sz="6000" u="none" cap="none" strike="noStrike">
              <a:solidFill>
                <a:srgbClr val="4D4D4C"/>
              </a:solidFill>
              <a:latin typeface="Times New Roman"/>
              <a:ea typeface="Times New Roman"/>
              <a:cs typeface="Times New Roman"/>
              <a:sym typeface="Times New Roman"/>
            </a:endParaRPr>
          </a:p>
        </p:txBody>
      </p:sp>
      <p:cxnSp>
        <p:nvCxnSpPr>
          <p:cNvPr id="225" name="Google Shape;225;p18"/>
          <p:cNvCxnSpPr/>
          <p:nvPr/>
        </p:nvCxnSpPr>
        <p:spPr>
          <a:xfrm>
            <a:off x="1991345" y="1121056"/>
            <a:ext cx="8332098" cy="0"/>
          </a:xfrm>
          <a:prstGeom prst="straightConnector1">
            <a:avLst/>
          </a:prstGeom>
          <a:noFill/>
          <a:ln cap="flat" cmpd="sng" w="12700">
            <a:solidFill>
              <a:srgbClr val="38AA00"/>
            </a:solidFill>
            <a:prstDash val="solid"/>
            <a:miter lim="800000"/>
            <a:headEnd len="sm" w="sm" type="none"/>
            <a:tailEnd len="sm" w="sm" type="none"/>
          </a:ln>
        </p:spPr>
      </p:cxnSp>
      <p:graphicFrame>
        <p:nvGraphicFramePr>
          <p:cNvPr id="226" name="Google Shape;226;p18"/>
          <p:cNvGraphicFramePr/>
          <p:nvPr/>
        </p:nvGraphicFramePr>
        <p:xfrm>
          <a:off x="2265529" y="1364776"/>
          <a:ext cx="5971576" cy="5128787"/>
        </p:xfrm>
        <a:graphic>
          <a:graphicData uri="http://schemas.openxmlformats.org/drawingml/2006/chart">
            <c:chart r:id="rId4"/>
          </a:graphicData>
        </a:graphic>
      </p:graphicFrame>
      <p:pic>
        <p:nvPicPr>
          <p:cNvPr descr="FlotteKarotte delivery bochum biolebensmittel wattenscheid GIF" id="227" name="Google Shape;227;p18"/>
          <p:cNvPicPr preferRelativeResize="0"/>
          <p:nvPr/>
        </p:nvPicPr>
        <p:blipFill rotWithShape="1">
          <a:blip r:embed="rId5">
            <a:alphaModFix/>
          </a:blip>
          <a:srcRect b="0" l="0" r="0" t="0"/>
          <a:stretch/>
        </p:blipFill>
        <p:spPr>
          <a:xfrm>
            <a:off x="8022946" y="1164944"/>
            <a:ext cx="3672098" cy="367209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1" name="Shape 231"/>
        <p:cNvGrpSpPr/>
        <p:nvPr/>
      </p:nvGrpSpPr>
      <p:grpSpPr>
        <a:xfrm>
          <a:off x="0" y="0"/>
          <a:ext cx="0" cy="0"/>
          <a:chOff x="0" y="0"/>
          <a:chExt cx="0" cy="0"/>
        </a:xfrm>
      </p:grpSpPr>
      <p:sp>
        <p:nvSpPr>
          <p:cNvPr id="232" name="Google Shape;232;p19"/>
          <p:cNvSpPr txBox="1"/>
          <p:nvPr/>
        </p:nvSpPr>
        <p:spPr>
          <a:xfrm>
            <a:off x="605404" y="0"/>
            <a:ext cx="10981189" cy="12618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3800" u="none" cap="none" strike="noStrike">
                <a:solidFill>
                  <a:srgbClr val="4D4D4C"/>
                </a:solidFill>
                <a:latin typeface="Times New Roman"/>
                <a:ea typeface="Times New Roman"/>
                <a:cs typeface="Times New Roman"/>
                <a:sym typeface="Times New Roman"/>
              </a:rPr>
              <a:t>¿Qué tan útil sería poder realizar teleconcultas a tu mascota?</a:t>
            </a:r>
            <a:endParaRPr b="1" i="0" sz="6000" u="none" cap="none" strike="noStrike">
              <a:solidFill>
                <a:srgbClr val="4D4D4C"/>
              </a:solidFill>
              <a:latin typeface="Times New Roman"/>
              <a:ea typeface="Times New Roman"/>
              <a:cs typeface="Times New Roman"/>
              <a:sym typeface="Times New Roman"/>
            </a:endParaRPr>
          </a:p>
        </p:txBody>
      </p:sp>
      <p:cxnSp>
        <p:nvCxnSpPr>
          <p:cNvPr id="233" name="Google Shape;233;p19"/>
          <p:cNvCxnSpPr/>
          <p:nvPr/>
        </p:nvCxnSpPr>
        <p:spPr>
          <a:xfrm>
            <a:off x="2561188" y="1261884"/>
            <a:ext cx="8067054" cy="0"/>
          </a:xfrm>
          <a:prstGeom prst="straightConnector1">
            <a:avLst/>
          </a:prstGeom>
          <a:noFill/>
          <a:ln cap="flat" cmpd="sng" w="12700">
            <a:solidFill>
              <a:srgbClr val="38AA00"/>
            </a:solidFill>
            <a:prstDash val="solid"/>
            <a:miter lim="800000"/>
            <a:headEnd len="sm" w="sm" type="none"/>
            <a:tailEnd len="sm" w="sm" type="none"/>
          </a:ln>
        </p:spPr>
      </p:cxnSp>
      <p:pic>
        <p:nvPicPr>
          <p:cNvPr id="234" name="Google Shape;234;p19"/>
          <p:cNvPicPr preferRelativeResize="0"/>
          <p:nvPr/>
        </p:nvPicPr>
        <p:blipFill rotWithShape="1">
          <a:blip r:embed="rId4">
            <a:alphaModFix/>
          </a:blip>
          <a:srcRect b="0" l="0" r="0" t="0"/>
          <a:stretch/>
        </p:blipFill>
        <p:spPr>
          <a:xfrm>
            <a:off x="2718455" y="1411360"/>
            <a:ext cx="7752521" cy="544664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8" name="Shape 238"/>
        <p:cNvGrpSpPr/>
        <p:nvPr/>
      </p:nvGrpSpPr>
      <p:grpSpPr>
        <a:xfrm>
          <a:off x="0" y="0"/>
          <a:ext cx="0" cy="0"/>
          <a:chOff x="0" y="0"/>
          <a:chExt cx="0" cy="0"/>
        </a:xfrm>
      </p:grpSpPr>
      <p:sp>
        <p:nvSpPr>
          <p:cNvPr id="239" name="Google Shape;239;p20"/>
          <p:cNvSpPr txBox="1"/>
          <p:nvPr/>
        </p:nvSpPr>
        <p:spPr>
          <a:xfrm>
            <a:off x="79671" y="1996476"/>
            <a:ext cx="12032655" cy="86177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5000" u="none" cap="none" strike="noStrike">
                <a:solidFill>
                  <a:srgbClr val="4D4D4C"/>
                </a:solidFill>
                <a:latin typeface="Times New Roman"/>
                <a:ea typeface="Times New Roman"/>
                <a:cs typeface="Times New Roman"/>
                <a:sym typeface="Times New Roman"/>
              </a:rPr>
              <a:t>MODULOS DEL GESTIÓN</a:t>
            </a:r>
            <a:endParaRPr b="1" i="0" sz="7200" u="none" cap="none" strike="noStrike">
              <a:solidFill>
                <a:schemeClr val="lt1"/>
              </a:solidFill>
              <a:latin typeface="Work Sans"/>
              <a:ea typeface="Work Sans"/>
              <a:cs typeface="Work Sans"/>
              <a:sym typeface="Work Sans"/>
            </a:endParaRPr>
          </a:p>
        </p:txBody>
      </p:sp>
      <p:cxnSp>
        <p:nvCxnSpPr>
          <p:cNvPr id="240" name="Google Shape;240;p20"/>
          <p:cNvCxnSpPr/>
          <p:nvPr/>
        </p:nvCxnSpPr>
        <p:spPr>
          <a:xfrm>
            <a:off x="1064145" y="3219606"/>
            <a:ext cx="10533967" cy="0"/>
          </a:xfrm>
          <a:prstGeom prst="straightConnector1">
            <a:avLst/>
          </a:prstGeom>
          <a:noFill/>
          <a:ln cap="flat" cmpd="sng" w="12700">
            <a:solidFill>
              <a:schemeClr val="lt1"/>
            </a:solidFill>
            <a:prstDash val="solid"/>
            <a:miter lim="800000"/>
            <a:headEnd len="sm" w="sm" type="none"/>
            <a:tailEnd len="sm" w="sm" type="none"/>
          </a:ln>
        </p:spPr>
      </p:cxnSp>
      <p:pic>
        <p:nvPicPr>
          <p:cNvPr descr="Orange Virus Sticker by Kyocera" id="241" name="Google Shape;241;p20"/>
          <p:cNvPicPr preferRelativeResize="0"/>
          <p:nvPr/>
        </p:nvPicPr>
        <p:blipFill rotWithShape="1">
          <a:blip r:embed="rId4">
            <a:alphaModFix/>
          </a:blip>
          <a:srcRect b="0" l="0" r="0" t="0"/>
          <a:stretch/>
        </p:blipFill>
        <p:spPr>
          <a:xfrm>
            <a:off x="4132942" y="3283856"/>
            <a:ext cx="3926115" cy="392611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5" name="Shape 245"/>
        <p:cNvGrpSpPr/>
        <p:nvPr/>
      </p:nvGrpSpPr>
      <p:grpSpPr>
        <a:xfrm>
          <a:off x="0" y="0"/>
          <a:ext cx="0" cy="0"/>
          <a:chOff x="0" y="0"/>
          <a:chExt cx="0" cy="0"/>
        </a:xfrm>
      </p:grpSpPr>
      <p:sp>
        <p:nvSpPr>
          <p:cNvPr id="246" name="Google Shape;246;p21"/>
          <p:cNvSpPr/>
          <p:nvPr/>
        </p:nvSpPr>
        <p:spPr>
          <a:xfrm>
            <a:off x="354842" y="1278020"/>
            <a:ext cx="6277971" cy="5324535"/>
          </a:xfrm>
          <a:prstGeom prst="rect">
            <a:avLst/>
          </a:prstGeom>
          <a:noFill/>
          <a:ln>
            <a:noFill/>
          </a:ln>
        </p:spPr>
        <p:txBody>
          <a:bodyPr anchorCtr="0" anchor="ctr"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000"/>
              <a:buFont typeface="Arial"/>
              <a:buChar char="•"/>
            </a:pPr>
            <a:r>
              <a:rPr b="1" i="1" lang="es-ES" sz="2000" u="none" cap="none" strike="noStrike">
                <a:solidFill>
                  <a:schemeClr val="dk1"/>
                </a:solidFill>
                <a:latin typeface="Garamond"/>
                <a:ea typeface="Garamond"/>
                <a:cs typeface="Garamond"/>
                <a:sym typeface="Garamond"/>
              </a:rPr>
              <a:t>Gestión de Citas:</a:t>
            </a:r>
            <a:r>
              <a:rPr b="0" i="0" lang="es-ES" sz="2000" u="none" cap="none" strike="noStrike">
                <a:solidFill>
                  <a:schemeClr val="dk1"/>
                </a:solidFill>
                <a:latin typeface="Garamond"/>
                <a:ea typeface="Garamond"/>
                <a:cs typeface="Garamond"/>
                <a:sym typeface="Garamond"/>
              </a:rPr>
              <a:t> Permite registrar, programar y consultar las citas de las mascotas, optimizando la organización y atención de los servicios veterinarios.</a:t>
            </a:r>
            <a:br>
              <a:rPr b="0" i="0" lang="es-ES" sz="2000" u="none" cap="none" strike="noStrike">
                <a:solidFill>
                  <a:schemeClr val="dk1"/>
                </a:solidFill>
                <a:latin typeface="Garamond"/>
                <a:ea typeface="Garamond"/>
                <a:cs typeface="Garamond"/>
                <a:sym typeface="Garamond"/>
              </a:rPr>
            </a:br>
            <a:endParaRPr b="0" i="0" sz="2000" u="none" cap="none" strike="noStrike">
              <a:solidFill>
                <a:schemeClr val="dk1"/>
              </a:solidFill>
              <a:latin typeface="Garamond"/>
              <a:ea typeface="Garamond"/>
              <a:cs typeface="Garamond"/>
              <a:sym typeface="Garamond"/>
            </a:endParaRPr>
          </a:p>
          <a:p>
            <a:pPr indent="-342900" lvl="0" marL="342900" marR="0" rtl="0" algn="l">
              <a:spcBef>
                <a:spcPts val="0"/>
              </a:spcBef>
              <a:spcAft>
                <a:spcPts val="0"/>
              </a:spcAft>
              <a:buClr>
                <a:schemeClr val="dk1"/>
              </a:buClr>
              <a:buSzPts val="2000"/>
              <a:buFont typeface="Arial"/>
              <a:buChar char="•"/>
            </a:pPr>
            <a:r>
              <a:rPr b="1" i="1" lang="es-ES" sz="2000" u="none" cap="none" strike="noStrike">
                <a:solidFill>
                  <a:schemeClr val="dk1"/>
                </a:solidFill>
                <a:latin typeface="Garamond"/>
                <a:ea typeface="Garamond"/>
                <a:cs typeface="Garamond"/>
                <a:sym typeface="Garamond"/>
              </a:rPr>
              <a:t>Gestión de Ventas: </a:t>
            </a:r>
            <a:r>
              <a:rPr b="0" i="0" lang="es-ES" sz="2000" u="none" cap="none" strike="noStrike">
                <a:solidFill>
                  <a:schemeClr val="dk1"/>
                </a:solidFill>
                <a:latin typeface="Garamond"/>
                <a:ea typeface="Garamond"/>
                <a:cs typeface="Garamond"/>
                <a:sym typeface="Garamond"/>
              </a:rPr>
              <a:t>Facilita el registro de ventas de productos y servicios, controlando las transacciones y actualizando automáticamente las existencias.</a:t>
            </a:r>
            <a:br>
              <a:rPr b="0" i="0" lang="es-ES" sz="2000" u="none" cap="none" strike="noStrike">
                <a:solidFill>
                  <a:schemeClr val="dk1"/>
                </a:solidFill>
                <a:latin typeface="Garamond"/>
                <a:ea typeface="Garamond"/>
                <a:cs typeface="Garamond"/>
                <a:sym typeface="Garamond"/>
              </a:rPr>
            </a:br>
            <a:endParaRPr b="0" i="0" sz="2000" u="none" cap="none" strike="noStrike">
              <a:solidFill>
                <a:schemeClr val="dk1"/>
              </a:solidFill>
              <a:latin typeface="Garamond"/>
              <a:ea typeface="Garamond"/>
              <a:cs typeface="Garamond"/>
              <a:sym typeface="Garamond"/>
            </a:endParaRPr>
          </a:p>
          <a:p>
            <a:pPr indent="-342900" lvl="0" marL="342900" marR="0" rtl="0" algn="l">
              <a:spcBef>
                <a:spcPts val="0"/>
              </a:spcBef>
              <a:spcAft>
                <a:spcPts val="0"/>
              </a:spcAft>
              <a:buClr>
                <a:schemeClr val="dk1"/>
              </a:buClr>
              <a:buSzPts val="2000"/>
              <a:buFont typeface="Arial"/>
              <a:buChar char="•"/>
            </a:pPr>
            <a:r>
              <a:rPr b="1" i="1" lang="es-ES" sz="2000" u="none" cap="none" strike="noStrike">
                <a:solidFill>
                  <a:schemeClr val="dk1"/>
                </a:solidFill>
                <a:latin typeface="Garamond"/>
                <a:ea typeface="Garamond"/>
                <a:cs typeface="Garamond"/>
                <a:sym typeface="Garamond"/>
              </a:rPr>
              <a:t>Gestión de </a:t>
            </a:r>
            <a:r>
              <a:rPr b="1" i="1" lang="es-ES" sz="2000">
                <a:solidFill>
                  <a:schemeClr val="dk1"/>
                </a:solidFill>
                <a:latin typeface="Garamond"/>
                <a:ea typeface="Garamond"/>
                <a:cs typeface="Garamond"/>
                <a:sym typeface="Garamond"/>
              </a:rPr>
              <a:t>Insumos</a:t>
            </a:r>
            <a:r>
              <a:rPr b="1" i="1" lang="es-ES" sz="2000" u="none" cap="none" strike="noStrike">
                <a:solidFill>
                  <a:schemeClr val="dk1"/>
                </a:solidFill>
                <a:latin typeface="Garamond"/>
                <a:ea typeface="Garamond"/>
                <a:cs typeface="Garamond"/>
                <a:sym typeface="Garamond"/>
              </a:rPr>
              <a:t>: </a:t>
            </a:r>
            <a:r>
              <a:rPr b="0" i="0" lang="es-ES" sz="2000" u="none" cap="none" strike="noStrike">
                <a:solidFill>
                  <a:schemeClr val="dk1"/>
                </a:solidFill>
                <a:latin typeface="Garamond"/>
                <a:ea typeface="Garamond"/>
                <a:cs typeface="Garamond"/>
                <a:sym typeface="Garamond"/>
              </a:rPr>
              <a:t>Administra el control de medicamentos, accesorios e insumos, gestionando entradas, salidas, niveles de stock y fechas de vencimiento cuando aplique.</a:t>
            </a:r>
            <a:br>
              <a:rPr b="0" i="0" lang="es-ES" sz="2000" u="none" cap="none" strike="noStrike">
                <a:solidFill>
                  <a:schemeClr val="dk1"/>
                </a:solidFill>
                <a:latin typeface="Garamond"/>
                <a:ea typeface="Garamond"/>
                <a:cs typeface="Garamond"/>
                <a:sym typeface="Garamond"/>
              </a:rPr>
            </a:br>
            <a:endParaRPr b="0" i="0" sz="2000" u="none" cap="none" strike="noStrike">
              <a:solidFill>
                <a:schemeClr val="dk1"/>
              </a:solidFill>
              <a:latin typeface="Garamond"/>
              <a:ea typeface="Garamond"/>
              <a:cs typeface="Garamond"/>
              <a:sym typeface="Garamond"/>
            </a:endParaRPr>
          </a:p>
          <a:p>
            <a:pPr indent="-342900" lvl="0" marL="342900" marR="0" rtl="0" algn="l">
              <a:lnSpc>
                <a:spcPct val="100000"/>
              </a:lnSpc>
              <a:spcBef>
                <a:spcPts val="0"/>
              </a:spcBef>
              <a:spcAft>
                <a:spcPts val="0"/>
              </a:spcAft>
              <a:buClr>
                <a:schemeClr val="dk1"/>
              </a:buClr>
              <a:buSzPts val="2000"/>
              <a:buFont typeface="Arial"/>
              <a:buChar char="•"/>
            </a:pPr>
            <a:r>
              <a:rPr b="1" i="1" lang="es-ES" sz="2000" u="none" cap="none" strike="noStrike">
                <a:solidFill>
                  <a:schemeClr val="dk1"/>
                </a:solidFill>
                <a:latin typeface="Garamond"/>
                <a:ea typeface="Garamond"/>
                <a:cs typeface="Garamond"/>
                <a:sym typeface="Garamond"/>
              </a:rPr>
              <a:t>Gestión de Hospitalización: </a:t>
            </a:r>
            <a:r>
              <a:rPr b="0" i="0" lang="es-ES" sz="2000" u="none" cap="none" strike="noStrike">
                <a:solidFill>
                  <a:schemeClr val="dk1"/>
                </a:solidFill>
                <a:latin typeface="Garamond"/>
                <a:ea typeface="Garamond"/>
                <a:cs typeface="Garamond"/>
                <a:sym typeface="Garamond"/>
              </a:rPr>
              <a:t>Gestiona el ingreso, seguimiento, tratamientos y egreso de las mascotas hospitalizadas, garantizando la trazabilidad y continuidad del cuidado clínico.</a:t>
            </a:r>
            <a:endParaRPr/>
          </a:p>
        </p:txBody>
      </p:sp>
      <p:pic>
        <p:nvPicPr>
          <p:cNvPr descr="emilybezakwrites ebw emily bezak emily bezak writes lightbulb icon GIF" id="247" name="Google Shape;247;p21"/>
          <p:cNvPicPr preferRelativeResize="0"/>
          <p:nvPr/>
        </p:nvPicPr>
        <p:blipFill rotWithShape="1">
          <a:blip r:embed="rId4">
            <a:alphaModFix/>
          </a:blip>
          <a:srcRect b="0" l="0" r="0" t="0"/>
          <a:stretch/>
        </p:blipFill>
        <p:spPr>
          <a:xfrm>
            <a:off x="7003576" y="1654287"/>
            <a:ext cx="4572000" cy="4572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1" name="Shape 251"/>
        <p:cNvGrpSpPr/>
        <p:nvPr/>
      </p:nvGrpSpPr>
      <p:grpSpPr>
        <a:xfrm>
          <a:off x="0" y="0"/>
          <a:ext cx="0" cy="0"/>
          <a:chOff x="0" y="0"/>
          <a:chExt cx="0" cy="0"/>
        </a:xfrm>
      </p:grpSpPr>
      <p:sp>
        <p:nvSpPr>
          <p:cNvPr id="252" name="Google Shape;252;p22"/>
          <p:cNvSpPr txBox="1"/>
          <p:nvPr/>
        </p:nvSpPr>
        <p:spPr>
          <a:xfrm>
            <a:off x="79671" y="1113932"/>
            <a:ext cx="12032655" cy="16312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5000" u="none" cap="none" strike="noStrike">
                <a:solidFill>
                  <a:srgbClr val="4D4D4C"/>
                </a:solidFill>
                <a:latin typeface="Times New Roman"/>
                <a:ea typeface="Times New Roman"/>
                <a:cs typeface="Times New Roman"/>
                <a:sym typeface="Times New Roman"/>
              </a:rPr>
              <a:t>ESPECIFICACIÓN DE REQUERIMIENTOS</a:t>
            </a:r>
            <a:endParaRPr b="1" i="0" sz="7200" u="none" cap="none" strike="noStrike">
              <a:solidFill>
                <a:schemeClr val="lt1"/>
              </a:solidFill>
              <a:latin typeface="Work Sans"/>
              <a:ea typeface="Work Sans"/>
              <a:cs typeface="Work Sans"/>
              <a:sym typeface="Work Sans"/>
            </a:endParaRPr>
          </a:p>
        </p:txBody>
      </p:sp>
      <p:cxnSp>
        <p:nvCxnSpPr>
          <p:cNvPr id="253" name="Google Shape;253;p22"/>
          <p:cNvCxnSpPr/>
          <p:nvPr/>
        </p:nvCxnSpPr>
        <p:spPr>
          <a:xfrm>
            <a:off x="829014" y="2982418"/>
            <a:ext cx="10533967" cy="0"/>
          </a:xfrm>
          <a:prstGeom prst="straightConnector1">
            <a:avLst/>
          </a:prstGeom>
          <a:noFill/>
          <a:ln cap="flat" cmpd="sng" w="12700">
            <a:solidFill>
              <a:schemeClr val="lt1"/>
            </a:solidFill>
            <a:prstDash val="solid"/>
            <a:miter lim="800000"/>
            <a:headEnd len="sm" w="sm" type="none"/>
            <a:tailEnd len="sm" w="sm" type="none"/>
          </a:ln>
        </p:spPr>
      </p:cxnSp>
      <p:pic>
        <p:nvPicPr>
          <p:cNvPr descr="Computer Laptop Sticker by Kyocera" id="254" name="Google Shape;254;p22"/>
          <p:cNvPicPr preferRelativeResize="0"/>
          <p:nvPr/>
        </p:nvPicPr>
        <p:blipFill rotWithShape="1">
          <a:blip r:embed="rId4">
            <a:alphaModFix/>
          </a:blip>
          <a:srcRect b="0" l="0" r="0" t="0"/>
          <a:stretch/>
        </p:blipFill>
        <p:spPr>
          <a:xfrm>
            <a:off x="4020400" y="2745148"/>
            <a:ext cx="4151193" cy="415119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8" name="Shape 258"/>
        <p:cNvGrpSpPr/>
        <p:nvPr/>
      </p:nvGrpSpPr>
      <p:grpSpPr>
        <a:xfrm>
          <a:off x="0" y="0"/>
          <a:ext cx="0" cy="0"/>
          <a:chOff x="0" y="0"/>
          <a:chExt cx="0" cy="0"/>
        </a:xfrm>
      </p:grpSpPr>
      <p:sp>
        <p:nvSpPr>
          <p:cNvPr id="259" name="Google Shape;259;p23"/>
          <p:cNvSpPr txBox="1"/>
          <p:nvPr/>
        </p:nvSpPr>
        <p:spPr>
          <a:xfrm>
            <a:off x="-79515" y="223393"/>
            <a:ext cx="11304000" cy="861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5000">
                <a:solidFill>
                  <a:srgbClr val="4D4D4C"/>
                </a:solidFill>
                <a:latin typeface="Times New Roman"/>
                <a:ea typeface="Times New Roman"/>
                <a:cs typeface="Times New Roman"/>
                <a:sym typeface="Times New Roman"/>
              </a:rPr>
              <a:t>REQUERIMIENTOS FUNCIONALES</a:t>
            </a:r>
            <a:endParaRPr b="1" sz="5000">
              <a:solidFill>
                <a:srgbClr val="4D4D4C"/>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3" name="Shape 263"/>
        <p:cNvGrpSpPr/>
        <p:nvPr/>
      </p:nvGrpSpPr>
      <p:grpSpPr>
        <a:xfrm>
          <a:off x="0" y="0"/>
          <a:ext cx="0" cy="0"/>
          <a:chOff x="0" y="0"/>
          <a:chExt cx="0" cy="0"/>
        </a:xfrm>
      </p:grpSpPr>
      <p:sp>
        <p:nvSpPr>
          <p:cNvPr id="264" name="Google Shape;264;p24"/>
          <p:cNvSpPr txBox="1"/>
          <p:nvPr/>
        </p:nvSpPr>
        <p:spPr>
          <a:xfrm>
            <a:off x="-79525" y="223400"/>
            <a:ext cx="12069900" cy="800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s-ES" sz="4600">
                <a:solidFill>
                  <a:srgbClr val="4D4D4C"/>
                </a:solidFill>
                <a:latin typeface="Times New Roman"/>
                <a:ea typeface="Times New Roman"/>
                <a:cs typeface="Times New Roman"/>
                <a:sym typeface="Times New Roman"/>
              </a:rPr>
              <a:t>REQUERIMIENTOS NO FUNCIONALES</a:t>
            </a:r>
            <a:endParaRPr b="1" sz="4600" u="none" cap="none" strike="noStrike">
              <a:solidFill>
                <a:schemeClr val="lt1"/>
              </a:solidFill>
              <a:latin typeface="Work Sans"/>
              <a:ea typeface="Work Sans"/>
              <a:cs typeface="Work Sans"/>
              <a:sym typeface="Work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8" name="Shape 268"/>
        <p:cNvGrpSpPr/>
        <p:nvPr/>
      </p:nvGrpSpPr>
      <p:grpSpPr>
        <a:xfrm>
          <a:off x="0" y="0"/>
          <a:ext cx="0" cy="0"/>
          <a:chOff x="0" y="0"/>
          <a:chExt cx="0" cy="0"/>
        </a:xfrm>
      </p:grpSpPr>
      <p:sp>
        <p:nvSpPr>
          <p:cNvPr id="269" name="Google Shape;269;p25"/>
          <p:cNvSpPr txBox="1"/>
          <p:nvPr/>
        </p:nvSpPr>
        <p:spPr>
          <a:xfrm>
            <a:off x="-79515" y="223393"/>
            <a:ext cx="11304103" cy="86177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5000">
                <a:solidFill>
                  <a:srgbClr val="4D4D4C"/>
                </a:solidFill>
                <a:latin typeface="Times New Roman"/>
                <a:ea typeface="Times New Roman"/>
                <a:cs typeface="Times New Roman"/>
                <a:sym typeface="Times New Roman"/>
              </a:rPr>
              <a:t>REQUERIMIENTOS</a:t>
            </a:r>
            <a:endParaRPr b="1" sz="5000" u="none" cap="none" strike="noStrike">
              <a:solidFill>
                <a:schemeClr val="lt1"/>
              </a:solidFill>
              <a:latin typeface="Work Sans"/>
              <a:ea typeface="Work Sans"/>
              <a:cs typeface="Work Sans"/>
              <a:sym typeface="Work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3" name="Shape 273"/>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7" name="Shape 277"/>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1" name="Shape 281"/>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descr="Digital art gif. A cute version of Judy Hopps from Zootopia in her police uniform face palms and shakes her head disappointingly." id="286" name="Google Shape;286;p29"/>
          <p:cNvPicPr preferRelativeResize="0"/>
          <p:nvPr/>
        </p:nvPicPr>
        <p:blipFill rotWithShape="1">
          <a:blip r:embed="rId3">
            <a:alphaModFix/>
          </a:blip>
          <a:srcRect b="0" l="0" r="0" t="0"/>
          <a:stretch/>
        </p:blipFill>
        <p:spPr>
          <a:xfrm>
            <a:off x="7687817" y="3930591"/>
            <a:ext cx="3352800" cy="1905000"/>
          </a:xfrm>
          <a:prstGeom prst="rect">
            <a:avLst/>
          </a:prstGeom>
          <a:noFill/>
          <a:ln>
            <a:noFill/>
          </a:ln>
        </p:spPr>
      </p:pic>
      <p:pic>
        <p:nvPicPr>
          <p:cNvPr descr="Dog Pet GIF by VetRéseau" id="287" name="Google Shape;287;p29"/>
          <p:cNvPicPr preferRelativeResize="0"/>
          <p:nvPr/>
        </p:nvPicPr>
        <p:blipFill rotWithShape="1">
          <a:blip r:embed="rId4">
            <a:alphaModFix/>
          </a:blip>
          <a:srcRect b="0" l="0" r="0" t="0"/>
          <a:stretch/>
        </p:blipFill>
        <p:spPr>
          <a:xfrm>
            <a:off x="10016455" y="2332839"/>
            <a:ext cx="1595306" cy="1595306"/>
          </a:xfrm>
          <a:prstGeom prst="rect">
            <a:avLst/>
          </a:prstGeom>
          <a:noFill/>
          <a:ln>
            <a:noFill/>
          </a:ln>
        </p:spPr>
      </p:pic>
      <p:pic>
        <p:nvPicPr>
          <p:cNvPr descr="Cat Help GIF by The Secret Life Of Pets" id="288" name="Google Shape;288;p29"/>
          <p:cNvPicPr preferRelativeResize="0"/>
          <p:nvPr/>
        </p:nvPicPr>
        <p:blipFill rotWithShape="1">
          <a:blip r:embed="rId5">
            <a:alphaModFix/>
          </a:blip>
          <a:srcRect b="0" l="0" r="0" t="0"/>
          <a:stretch/>
        </p:blipFill>
        <p:spPr>
          <a:xfrm>
            <a:off x="4545566" y="427839"/>
            <a:ext cx="3390900" cy="1905000"/>
          </a:xfrm>
          <a:prstGeom prst="rect">
            <a:avLst/>
          </a:prstGeom>
          <a:noFill/>
          <a:ln>
            <a:noFill/>
          </a:ln>
        </p:spPr>
      </p:pic>
      <p:pic>
        <p:nvPicPr>
          <p:cNvPr descr="Animation Fire GIF by Tara Duncan" id="289" name="Google Shape;289;p29"/>
          <p:cNvPicPr preferRelativeResize="0"/>
          <p:nvPr/>
        </p:nvPicPr>
        <p:blipFill rotWithShape="1">
          <a:blip r:embed="rId6">
            <a:alphaModFix/>
          </a:blip>
          <a:srcRect b="0" l="0" r="0" t="0"/>
          <a:stretch/>
        </p:blipFill>
        <p:spPr>
          <a:xfrm>
            <a:off x="8220861" y="100012"/>
            <a:ext cx="3390900" cy="1905000"/>
          </a:xfrm>
          <a:prstGeom prst="rect">
            <a:avLst/>
          </a:prstGeom>
          <a:noFill/>
          <a:ln>
            <a:noFill/>
          </a:ln>
        </p:spPr>
      </p:pic>
      <p:pic>
        <p:nvPicPr>
          <p:cNvPr descr="Animation Film GIF by Disney Pixar" id="290" name="Google Shape;290;p29"/>
          <p:cNvPicPr preferRelativeResize="0"/>
          <p:nvPr/>
        </p:nvPicPr>
        <p:blipFill rotWithShape="1">
          <a:blip r:embed="rId7">
            <a:alphaModFix/>
          </a:blip>
          <a:srcRect b="0" l="0" r="0" t="0"/>
          <a:stretch/>
        </p:blipFill>
        <p:spPr>
          <a:xfrm>
            <a:off x="3943735" y="3943021"/>
            <a:ext cx="4304529" cy="240476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2020-10-01T23:51:28Z</dcterms:created>
  <dc:creator>Jorge Enrique Pedraza Sanchez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