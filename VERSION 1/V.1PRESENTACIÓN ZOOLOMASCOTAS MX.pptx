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Ex1.xml" ContentType="application/vnd.ms-office.chartex+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handoutMasterIdLst>
    <p:handoutMasterId r:id="rId32"/>
  </p:handoutMasterIdLst>
  <p:sldIdLst>
    <p:sldId id="538" r:id="rId2"/>
    <p:sldId id="550" r:id="rId3"/>
    <p:sldId id="549" r:id="rId4"/>
    <p:sldId id="537" r:id="rId5"/>
    <p:sldId id="536" r:id="rId6"/>
    <p:sldId id="535" r:id="rId7"/>
    <p:sldId id="547" r:id="rId8"/>
    <p:sldId id="546" r:id="rId9"/>
    <p:sldId id="554" r:id="rId10"/>
    <p:sldId id="551" r:id="rId11"/>
    <p:sldId id="532" r:id="rId12"/>
    <p:sldId id="558" r:id="rId13"/>
    <p:sldId id="557" r:id="rId14"/>
    <p:sldId id="552" r:id="rId15"/>
    <p:sldId id="567" r:id="rId16"/>
    <p:sldId id="561" r:id="rId17"/>
    <p:sldId id="562" r:id="rId18"/>
    <p:sldId id="563" r:id="rId19"/>
    <p:sldId id="564" r:id="rId20"/>
    <p:sldId id="559" r:id="rId21"/>
    <p:sldId id="572" r:id="rId22"/>
    <p:sldId id="553" r:id="rId23"/>
    <p:sldId id="575" r:id="rId24"/>
    <p:sldId id="576" r:id="rId25"/>
    <p:sldId id="577" r:id="rId26"/>
    <p:sldId id="531" r:id="rId27"/>
    <p:sldId id="565" r:id="rId28"/>
    <p:sldId id="566" r:id="rId29"/>
    <p:sldId id="545" r:id="rId30"/>
  </p:sldIdLst>
  <p:sldSz cx="12192000" cy="6858000"/>
  <p:notesSz cx="7315200" cy="96012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5" userDrawn="1">
          <p15:clr>
            <a:srgbClr val="A4A3A4"/>
          </p15:clr>
        </p15:guide>
        <p15:guide id="2" pos="3840" userDrawn="1">
          <p15:clr>
            <a:srgbClr val="A4A3A4"/>
          </p15:clr>
        </p15:guide>
        <p15:guide id="3" orient="horz" pos="1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D00"/>
    <a:srgbClr val="4D4D4C"/>
    <a:srgbClr val="343433"/>
    <a:srgbClr val="FF6C00"/>
    <a:srgbClr val="38AA00"/>
    <a:srgbClr val="766363"/>
    <a:srgbClr val="FFF5EA"/>
    <a:srgbClr val="0032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28"/>
    <p:restoredTop sz="97242"/>
  </p:normalViewPr>
  <p:slideViewPr>
    <p:cSldViewPr snapToGrid="0">
      <p:cViewPr varScale="1">
        <p:scale>
          <a:sx n="72" d="100"/>
          <a:sy n="72" d="100"/>
        </p:scale>
        <p:origin x="1002" y="78"/>
      </p:cViewPr>
      <p:guideLst>
        <p:guide orient="horz" pos="595"/>
        <p:guide pos="3840"/>
        <p:guide orient="horz" pos="187"/>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D:\Desktop\ZAIDA\PROYECTO%20ZOOLOMASCOTAS%20MX\ENCUESTA%20ZOOLOMASCOTAS%20MX.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Desktop\ZAIDA\PROYECTO%20ZOOLOMASCOTAS%20MX\ENCUESTA%20ZOOLOMASCOTAS%20MX.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Desktop\ZAIDA\PROYECTO%20ZOOLOMASCOTAS%20MX\ENCUESTA%20ZOOLOMASCOTAS%20MX.xlsx" TargetMode="External"/><Relationship Id="rId2" Type="http://schemas.microsoft.com/office/2011/relationships/chartColorStyle" Target="colors3.xml"/><Relationship Id="rId1" Type="http://schemas.microsoft.com/office/2011/relationships/chartStyle" Target="style3.xml"/></Relationships>
</file>

<file path=ppt/charts/_rels/chartEx1.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D:\Desktop\ZAIDA\PROYECTO%20ZOOLOMASCOTAS%20MX\ENCUESTA%20ZOOLOMASCOTAS%20MX.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bar"/>
        <c:grouping val="percentStacked"/>
        <c:varyColors val="0"/>
        <c:ser>
          <c:idx val="0"/>
          <c:order val="0"/>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es-C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'Graficos '!$A$62:$I$62</c:f>
              <c:strCache>
                <c:ptCount val="8"/>
                <c:pt idx="5">
                  <c:v>WHATSAPP</c:v>
                </c:pt>
                <c:pt idx="6">
                  <c:v>PRESENCIAL</c:v>
                </c:pt>
                <c:pt idx="7">
                  <c:v>TELEFÓNICAMENTE</c:v>
                </c:pt>
              </c:strCache>
              <c:extLst/>
            </c:strRef>
          </c:cat>
          <c:val>
            <c:numRef>
              <c:f>'Graficos '!$A$63:$I$63</c:f>
              <c:numCache>
                <c:formatCode>General</c:formatCode>
                <c:ptCount val="8"/>
                <c:pt idx="5">
                  <c:v>31</c:v>
                </c:pt>
                <c:pt idx="6">
                  <c:v>7</c:v>
                </c:pt>
                <c:pt idx="7">
                  <c:v>2</c:v>
                </c:pt>
              </c:numCache>
              <c:extLst/>
            </c:numRef>
          </c:val>
          <c:extLst>
            <c:ext xmlns:c16="http://schemas.microsoft.com/office/drawing/2014/chart" uri="{C3380CC4-5D6E-409C-BE32-E72D297353CC}">
              <c16:uniqueId val="{00000000-45A5-43BA-898F-2AA3578E6539}"/>
            </c:ext>
          </c:extLst>
        </c:ser>
        <c:dLbls>
          <c:dLblPos val="ctr"/>
          <c:showLegendKey val="0"/>
          <c:showVal val="1"/>
          <c:showCatName val="0"/>
          <c:showSerName val="0"/>
          <c:showPercent val="0"/>
          <c:showBubbleSize val="0"/>
        </c:dLbls>
        <c:gapWidth val="79"/>
        <c:overlap val="100"/>
        <c:axId val="1920447647"/>
        <c:axId val="1920466783"/>
      </c:barChart>
      <c:catAx>
        <c:axId val="19204476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cap="all" spc="120" normalizeH="0" baseline="0">
                <a:solidFill>
                  <a:schemeClr val="tx1">
                    <a:lumMod val="65000"/>
                    <a:lumOff val="35000"/>
                  </a:schemeClr>
                </a:solidFill>
                <a:latin typeface="+mn-lt"/>
                <a:ea typeface="+mn-ea"/>
                <a:cs typeface="+mn-cs"/>
              </a:defRPr>
            </a:pPr>
            <a:endParaRPr lang="es-CO"/>
          </a:p>
        </c:txPr>
        <c:crossAx val="1920466783"/>
        <c:crosses val="autoZero"/>
        <c:auto val="1"/>
        <c:lblAlgn val="ctr"/>
        <c:lblOffset val="100"/>
        <c:noMultiLvlLbl val="0"/>
      </c:catAx>
      <c:valAx>
        <c:axId val="1920466783"/>
        <c:scaling>
          <c:orientation val="minMax"/>
        </c:scaling>
        <c:delete val="1"/>
        <c:axPos val="b"/>
        <c:numFmt formatCode="0%" sourceLinked="1"/>
        <c:majorTickMark val="none"/>
        <c:minorTickMark val="none"/>
        <c:tickLblPos val="nextTo"/>
        <c:crossAx val="19204476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endParaRPr lang="es-CO"/>
        </a:p>
      </c:txPr>
    </c:title>
    <c:autoTitleDeleted val="0"/>
    <c:plotArea>
      <c:layout/>
      <c:pieChart>
        <c:varyColors val="1"/>
        <c:ser>
          <c:idx val="0"/>
          <c:order val="0"/>
          <c:tx>
            <c:strRef>
              <c:f>'Graficos '!$A$85</c:f>
              <c:strCache>
                <c:ptCount val="1"/>
              </c:strCache>
            </c:strRef>
          </c:tx>
          <c:dPt>
            <c:idx val="0"/>
            <c:bubble3D val="0"/>
            <c:spPr>
              <a:solidFill>
                <a:schemeClr val="accent6"/>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4DB1-40C1-A2C0-666332BAFACC}"/>
              </c:ext>
            </c:extLst>
          </c:dPt>
          <c:dPt>
            <c:idx val="1"/>
            <c:bubble3D val="0"/>
            <c:spPr>
              <a:solidFill>
                <a:schemeClr val="accent5"/>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4DB1-40C1-A2C0-666332BAFACC}"/>
              </c:ext>
            </c:extLst>
          </c:dPt>
          <c:dPt>
            <c:idx val="2"/>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4DB1-40C1-A2C0-666332BAFACC}"/>
              </c:ext>
            </c:extLst>
          </c:dPt>
          <c:dLbls>
            <c:dLbl>
              <c:idx val="0"/>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4FFACAF7-C96B-4DEF-BE26-A8D9242E22A3}" type="PERCENTAGE">
                      <a:rPr lang="en-US" sz="2000"/>
                      <a:pPr>
                        <a:defRPr/>
                      </a:pPr>
                      <a:t>[PORCENTAJE]</a:t>
                    </a:fld>
                    <a:endParaRPr lang="es-CO"/>
                  </a:p>
                </c:rich>
              </c:tx>
              <c:spPr>
                <a:noFill/>
                <a:ln>
                  <a:noFill/>
                </a:ln>
                <a:effectLst/>
              </c:spPr>
              <c:txPr>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endParaRPr lang="es-CO"/>
                </a:p>
              </c:txPr>
              <c:dLblPos val="inEnd"/>
              <c:showLegendKey val="0"/>
              <c:showVal val="0"/>
              <c:showCatName val="0"/>
              <c:showSerName val="0"/>
              <c:showPercent val="1"/>
              <c:showBubbleSize val="0"/>
              <c:extLst>
                <c:ext xmlns:c15="http://schemas.microsoft.com/office/drawing/2012/chart" uri="{CE6537A1-D6FC-4f65-9D91-7224C49458BB}">
                  <c15:layout>
                    <c:manualLayout>
                      <c:w val="9.6231456348071231E-2"/>
                      <c:h val="0.20177213527044979"/>
                    </c:manualLayout>
                  </c15:layout>
                  <c15:dlblFieldTable/>
                  <c15:showDataLabelsRange val="0"/>
                </c:ext>
                <c:ext xmlns:c16="http://schemas.microsoft.com/office/drawing/2014/chart" uri="{C3380CC4-5D6E-409C-BE32-E72D297353CC}">
                  <c16:uniqueId val="{00000001-4DB1-40C1-A2C0-666332BAFACC}"/>
                </c:ext>
              </c:extLst>
            </c:dLbl>
            <c:dLbl>
              <c:idx val="1"/>
              <c:spPr>
                <a:noFill/>
                <a:ln>
                  <a:noFill/>
                </a:ln>
                <a:effectLst/>
              </c:spPr>
              <c:txPr>
                <a:bodyPr rot="0" spcFirstLastPara="1" vertOverflow="ellipsis" vert="horz" wrap="square" lIns="38100" tIns="19050" rIns="38100" bIns="19050" anchor="ctr" anchorCtr="1">
                  <a:spAutoFit/>
                </a:bodyPr>
                <a:lstStyle/>
                <a:p>
                  <a:pPr>
                    <a:defRPr lang="en-US" sz="2000" b="1" i="0" u="none" strike="noStrike" kern="1200" baseline="0">
                      <a:solidFill>
                        <a:prstClr val="white"/>
                      </a:solidFill>
                      <a:latin typeface="+mn-lt"/>
                      <a:ea typeface="+mn-ea"/>
                      <a:cs typeface="+mn-cs"/>
                    </a:defRPr>
                  </a:pPr>
                  <a:endParaRPr lang="es-CO"/>
                </a:p>
              </c:txPr>
              <c:dLblPos val="inEnd"/>
              <c:showLegendKey val="0"/>
              <c:showVal val="0"/>
              <c:showCatName val="0"/>
              <c:showSerName val="0"/>
              <c:showPercent val="1"/>
              <c:showBubbleSize val="0"/>
              <c:extLst>
                <c:ext xmlns:c16="http://schemas.microsoft.com/office/drawing/2014/chart" uri="{C3380CC4-5D6E-409C-BE32-E72D297353CC}">
                  <c16:uniqueId val="{00000003-4DB1-40C1-A2C0-666332BAFACC}"/>
                </c:ext>
              </c:extLst>
            </c:dLbl>
            <c:dLbl>
              <c:idx val="2"/>
              <c:spPr>
                <a:noFill/>
                <a:ln>
                  <a:noFill/>
                </a:ln>
                <a:effectLst/>
              </c:spPr>
              <c:txPr>
                <a:bodyPr rot="0" spcFirstLastPara="1" vertOverflow="ellipsis" vert="horz" wrap="square" lIns="38100" tIns="19050" rIns="38100" bIns="19050" anchor="ctr" anchorCtr="1">
                  <a:spAutoFit/>
                </a:bodyPr>
                <a:lstStyle/>
                <a:p>
                  <a:pPr>
                    <a:defRPr lang="en-US" sz="2000" b="1" i="0" u="none" strike="noStrike" kern="1200" baseline="0">
                      <a:solidFill>
                        <a:prstClr val="white"/>
                      </a:solidFill>
                      <a:latin typeface="+mn-lt"/>
                      <a:ea typeface="+mn-ea"/>
                      <a:cs typeface="+mn-cs"/>
                    </a:defRPr>
                  </a:pPr>
                  <a:endParaRPr lang="es-CO"/>
                </a:p>
              </c:txPr>
              <c:dLblPos val="inEnd"/>
              <c:showLegendKey val="0"/>
              <c:showVal val="0"/>
              <c:showCatName val="0"/>
              <c:showSerName val="0"/>
              <c:showPercent val="1"/>
              <c:showBubbleSize val="0"/>
              <c:extLst>
                <c:ext xmlns:c16="http://schemas.microsoft.com/office/drawing/2014/chart" uri="{C3380CC4-5D6E-409C-BE32-E72D297353CC}">
                  <c16:uniqueId val="{00000005-4DB1-40C1-A2C0-666332BAFACC}"/>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s-CO"/>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'Graficos '!$G$84:$I$84</c:f>
              <c:strCache>
                <c:ptCount val="3"/>
                <c:pt idx="0">
                  <c:v>PELUQUERÍA</c:v>
                </c:pt>
                <c:pt idx="1">
                  <c:v>CONSULTA</c:v>
                </c:pt>
                <c:pt idx="2">
                  <c:v>HOSPITALIZACIÓN</c:v>
                </c:pt>
              </c:strCache>
              <c:extLst/>
            </c:strRef>
          </c:cat>
          <c:val>
            <c:numRef>
              <c:f>'Graficos '!$G$85:$I$85</c:f>
              <c:numCache>
                <c:formatCode>General</c:formatCode>
                <c:ptCount val="3"/>
                <c:pt idx="0">
                  <c:v>13</c:v>
                </c:pt>
                <c:pt idx="1">
                  <c:v>27</c:v>
                </c:pt>
                <c:pt idx="2">
                  <c:v>0</c:v>
                </c:pt>
              </c:numCache>
              <c:extLst/>
            </c:numRef>
          </c:val>
          <c:extLst>
            <c:ext xmlns:c16="http://schemas.microsoft.com/office/drawing/2014/chart" uri="{C3380CC4-5D6E-409C-BE32-E72D297353CC}">
              <c16:uniqueId val="{00000006-4DB1-40C1-A2C0-666332BAFACC}"/>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legendEntry>
        <c:idx val="0"/>
        <c:txPr>
          <a:bodyPr rot="0" spcFirstLastPara="1" vertOverflow="ellipsis" vert="horz" wrap="square" anchor="ctr" anchorCtr="1"/>
          <a:lstStyle/>
          <a:p>
            <a:pPr>
              <a:defRPr lang="en-US" sz="1800" b="0" i="0" u="none" strike="noStrike" kern="1200" baseline="0">
                <a:solidFill>
                  <a:schemeClr val="tx1">
                    <a:lumMod val="65000"/>
                    <a:lumOff val="35000"/>
                  </a:schemeClr>
                </a:solidFill>
                <a:latin typeface="+mn-lt"/>
                <a:ea typeface="+mn-ea"/>
                <a:cs typeface="+mn-cs"/>
              </a:defRPr>
            </a:pPr>
            <a:endParaRPr lang="es-CO"/>
          </a:p>
        </c:txPr>
      </c:legendEntry>
      <c:legendEntry>
        <c:idx val="1"/>
        <c:txPr>
          <a:bodyPr rot="0" spcFirstLastPara="1" vertOverflow="ellipsis" vert="horz" wrap="square" anchor="ctr" anchorCtr="1"/>
          <a:lstStyle/>
          <a:p>
            <a:pPr>
              <a:defRPr lang="en-US" sz="1800" b="0" i="0" u="none" strike="noStrike" kern="1200" baseline="0">
                <a:solidFill>
                  <a:schemeClr val="tx1">
                    <a:lumMod val="65000"/>
                    <a:lumOff val="35000"/>
                  </a:schemeClr>
                </a:solidFill>
                <a:latin typeface="+mn-lt"/>
                <a:ea typeface="+mn-ea"/>
                <a:cs typeface="+mn-cs"/>
              </a:defRPr>
            </a:pPr>
            <a:endParaRPr lang="es-CO"/>
          </a:p>
        </c:txPr>
      </c:legendEntry>
      <c:legendEntry>
        <c:idx val="2"/>
        <c:txPr>
          <a:bodyPr rot="0" spcFirstLastPara="1" vertOverflow="ellipsis" vert="horz" wrap="square" anchor="ctr" anchorCtr="1"/>
          <a:lstStyle/>
          <a:p>
            <a:pPr>
              <a:defRPr lang="en-US" sz="1800" b="0" i="0" u="none" strike="noStrike" kern="1200" baseline="0">
                <a:solidFill>
                  <a:schemeClr val="tx1">
                    <a:lumMod val="65000"/>
                    <a:lumOff val="35000"/>
                  </a:schemeClr>
                </a:solidFill>
                <a:latin typeface="+mn-lt"/>
                <a:ea typeface="+mn-ea"/>
                <a:cs typeface="+mn-cs"/>
              </a:defRPr>
            </a:pPr>
            <a:endParaRPr lang="es-CO"/>
          </a:p>
        </c:txPr>
      </c:legendEntry>
      <c:overlay val="0"/>
      <c:spPr>
        <a:noFill/>
        <a:ln>
          <a:noFill/>
        </a:ln>
        <a:effectLst/>
      </c:spPr>
      <c:txPr>
        <a:bodyPr rot="0" spcFirstLastPara="1" vertOverflow="ellipsis" vert="horz" wrap="square" anchor="ctr" anchorCtr="1"/>
        <a:lstStyle/>
        <a:p>
          <a:pPr>
            <a:defRPr lang="en-US" sz="20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spPr>
            <a:solidFill>
              <a:schemeClr val="accent2"/>
            </a:solidFill>
            <a:ln>
              <a:noFill/>
            </a:ln>
            <a:effectLst/>
            <a:sp3d/>
          </c:spPr>
          <c:invertIfNegative val="0"/>
          <c:dLbls>
            <c:dLbl>
              <c:idx val="0"/>
              <c:layout>
                <c:manualLayout>
                  <c:x val="1.6723474434435233E-2"/>
                  <c:y val="4.51571254625346E-2"/>
                </c:manualLayout>
              </c:layout>
              <c:tx>
                <c:rich>
                  <a:bodyPr/>
                  <a:lstStyle/>
                  <a:p>
                    <a:fld id="{87E32BC8-DD5B-4419-B093-8942BE6C891E}" type="VALUE">
                      <a:rPr lang="en-US" sz="3000" b="1"/>
                      <a:pPr/>
                      <a:t>[VALOR]</a:t>
                    </a:fld>
                    <a:endParaRPr lang="es-CO"/>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AFF-4608-AEC6-3DD67B6795CA}"/>
                </c:ext>
              </c:extLst>
            </c:dLbl>
            <c:dLbl>
              <c:idx val="1"/>
              <c:layout>
                <c:manualLayout>
                  <c:x val="2.8668813316174685E-2"/>
                  <c:y val="3.26134795007193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AFF-4608-AEC6-3DD67B6795CA}"/>
                </c:ext>
              </c:extLst>
            </c:dLbl>
            <c:spPr>
              <a:noFill/>
              <a:ln>
                <a:noFill/>
              </a:ln>
              <a:effectLst/>
            </c:spPr>
            <c:txPr>
              <a:bodyPr rot="0" spcFirstLastPara="1" vertOverflow="ellipsis" vert="horz" wrap="square" lIns="38100" tIns="19050" rIns="38100" bIns="19050" anchor="ctr" anchorCtr="1">
                <a:spAutoFit/>
              </a:bodyPr>
              <a:lstStyle/>
              <a:p>
                <a:pPr>
                  <a:defRPr sz="3000" b="1" i="0" u="none" strike="noStrike" kern="1200" baseline="0">
                    <a:solidFill>
                      <a:schemeClr val="tx1">
                        <a:lumMod val="75000"/>
                        <a:lumOff val="25000"/>
                      </a:schemeClr>
                    </a:solidFill>
                    <a:latin typeface="+mn-lt"/>
                    <a:ea typeface="+mn-ea"/>
                    <a:cs typeface="+mn-cs"/>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 '!$A$16:$H$16</c:f>
              <c:strCache>
                <c:ptCount val="2"/>
                <c:pt idx="0">
                  <c:v>SI</c:v>
                </c:pt>
                <c:pt idx="1">
                  <c:v>NO</c:v>
                </c:pt>
              </c:strCache>
              <c:extLst/>
            </c:strRef>
          </c:cat>
          <c:val>
            <c:numRef>
              <c:f>'Graficos '!$A$17:$H$17</c:f>
              <c:numCache>
                <c:formatCode>General</c:formatCode>
                <c:ptCount val="2"/>
                <c:pt idx="0">
                  <c:v>36</c:v>
                </c:pt>
                <c:pt idx="1">
                  <c:v>4</c:v>
                </c:pt>
              </c:numCache>
              <c:extLst/>
            </c:numRef>
          </c:val>
          <c:extLst>
            <c:ext xmlns:c16="http://schemas.microsoft.com/office/drawing/2014/chart" uri="{C3380CC4-5D6E-409C-BE32-E72D297353CC}">
              <c16:uniqueId val="{00000000-BAFF-4608-AEC6-3DD67B6795CA}"/>
            </c:ext>
          </c:extLst>
        </c:ser>
        <c:dLbls>
          <c:showLegendKey val="0"/>
          <c:showVal val="1"/>
          <c:showCatName val="0"/>
          <c:showSerName val="0"/>
          <c:showPercent val="0"/>
          <c:showBubbleSize val="0"/>
        </c:dLbls>
        <c:gapWidth val="150"/>
        <c:shape val="box"/>
        <c:axId val="1833068464"/>
        <c:axId val="1833069296"/>
        <c:axId val="0"/>
      </c:bar3DChart>
      <c:catAx>
        <c:axId val="183306846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3000" b="1" i="0" u="none" strike="noStrike" kern="1200" baseline="0">
                <a:solidFill>
                  <a:schemeClr val="tx1">
                    <a:lumMod val="75000"/>
                    <a:lumOff val="25000"/>
                  </a:schemeClr>
                </a:solidFill>
                <a:latin typeface="+mn-lt"/>
                <a:ea typeface="+mn-ea"/>
                <a:cs typeface="+mn-cs"/>
              </a:defRPr>
            </a:pPr>
            <a:endParaRPr lang="es-CO"/>
          </a:p>
        </c:txPr>
        <c:crossAx val="1833069296"/>
        <c:crosses val="autoZero"/>
        <c:auto val="1"/>
        <c:lblAlgn val="ctr"/>
        <c:lblOffset val="100"/>
        <c:noMultiLvlLbl val="0"/>
      </c:catAx>
      <c:valAx>
        <c:axId val="1833069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s-CO"/>
          </a:p>
        </c:txPr>
        <c:crossAx val="183306846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'Graficos '!$G$38:$I$38</cx:f>
        <cx:lvl ptCount="3">
          <cx:pt idx="0">MUY ÚTIL </cx:pt>
          <cx:pt idx="1">NEUTRAL</cx:pt>
          <cx:pt idx="2">POCO ÚTIL</cx:pt>
        </cx:lvl>
      </cx:strDim>
      <cx:numDim type="size">
        <cx:f dir="row">'Graficos '!$G$39:$I$39</cx:f>
        <cx:lvl ptCount="3" formatCode="General">
          <cx:pt idx="0">27</cx:pt>
          <cx:pt idx="1">10</cx:pt>
          <cx:pt idx="2">3</cx:pt>
        </cx:lvl>
      </cx:numDim>
    </cx:data>
  </cx:chartData>
  <cx:chart>
    <cx:plotArea>
      <cx:plotAreaRegion>
        <cx:series layoutId="sunburst" uniqueId="{A8877ED5-1A28-450A-AC5B-33AFD85A21A1}">
          <cx:tx>
            <cx:txData>
              <cx:f>'Graficos '!$A$39:$F$39</cx:f>
              <cx:v/>
            </cx:txData>
          </cx:tx>
          <cx:dataLabels pos="ctr">
            <cx:txPr>
              <a:bodyPr spcFirstLastPara="1" vertOverflow="ellipsis" horzOverflow="overflow" wrap="square" lIns="0" tIns="0" rIns="0" bIns="0" anchor="ctr" anchorCtr="1"/>
              <a:lstStyle/>
              <a:p>
                <a:pPr algn="ctr" rtl="0">
                  <a:defRPr sz="2000"/>
                </a:pPr>
                <a:endParaRPr lang="es-ES" sz="2000" b="0" i="0" u="none" strike="noStrike" baseline="0">
                  <a:solidFill>
                    <a:prstClr val="white"/>
                  </a:solidFill>
                  <a:latin typeface="Calibri" panose="020F0502020204030204"/>
                </a:endParaRPr>
              </a:p>
            </cx:txPr>
            <cx:visibility seriesName="0" categoryName="1" value="1"/>
            <cx:separator>
</cx:separator>
            <cx:dataLabel idx="0">
              <cx:txPr>
                <a:bodyPr spcFirstLastPara="1" vertOverflow="ellipsis" horzOverflow="overflow" wrap="square" lIns="0" tIns="0" rIns="0" bIns="0" anchor="ctr" anchorCtr="1"/>
                <a:lstStyle/>
                <a:p>
                  <a:pPr algn="ctr" rtl="0">
                    <a:defRPr/>
                  </a:pPr>
                  <a:r>
                    <a:rPr lang="es-ES" sz="2000" b="0" i="0" u="none" strike="noStrike" baseline="0">
                      <a:solidFill>
                        <a:prstClr val="white"/>
                      </a:solidFill>
                      <a:latin typeface="Calibri" panose="020F0502020204030204"/>
                    </a:rPr>
                    <a:t>MUY ÚTIL 
27</a:t>
                  </a:r>
                </a:p>
              </cx:txPr>
              <cx:visibility seriesName="0" categoryName="1" value="1"/>
              <cx:separator>
</cx:separator>
            </cx:dataLabel>
            <cx:dataLabel idx="1">
              <cx:txPr>
                <a:bodyPr spcFirstLastPara="1" vertOverflow="ellipsis" horzOverflow="overflow" wrap="square" lIns="0" tIns="0" rIns="0" bIns="0" anchor="ctr" anchorCtr="1"/>
                <a:lstStyle/>
                <a:p>
                  <a:pPr algn="ctr" rtl="0">
                    <a:defRPr/>
                  </a:pPr>
                  <a:r>
                    <a:rPr lang="es-ES" sz="2000" b="0" i="0" u="none" strike="noStrike" baseline="0">
                      <a:solidFill>
                        <a:prstClr val="white"/>
                      </a:solidFill>
                      <a:latin typeface="Calibri" panose="020F0502020204030204"/>
                    </a:rPr>
                    <a:t>NEUTRAL
10</a:t>
                  </a:r>
                </a:p>
              </cx:txPr>
              <cx:visibility seriesName="0" categoryName="1" value="1"/>
              <cx:separator>
</cx:separator>
            </cx:dataLabel>
            <cx:dataLabel idx="2">
              <cx:txPr>
                <a:bodyPr spcFirstLastPara="1" vertOverflow="ellipsis" horzOverflow="overflow" wrap="square" lIns="0" tIns="0" rIns="0" bIns="0" anchor="ctr" anchorCtr="1"/>
                <a:lstStyle/>
                <a:p>
                  <a:pPr algn="ctr" rtl="0">
                    <a:defRPr sz="1800"/>
                  </a:pPr>
                  <a:r>
                    <a:rPr lang="es-ES" sz="1800" b="0" i="0" u="none" strike="noStrike" baseline="0">
                      <a:solidFill>
                        <a:prstClr val="white"/>
                      </a:solidFill>
                      <a:latin typeface="Calibri" panose="020F0502020204030204"/>
                    </a:rPr>
                    <a:t>POCO ÚTIL
3</a:t>
                  </a:r>
                </a:p>
              </cx:txPr>
              <cx:visibility seriesName="0" categoryName="1" value="1"/>
              <cx:separator>
</cx:separator>
            </cx:dataLabel>
          </cx:dataLabels>
          <cx:dataId val="0"/>
        </cx:series>
      </cx:plotAreaRegion>
    </cx:plotArea>
    <cx:legend pos="b" align="ctr" overlay="0">
      <cx:txPr>
        <a:bodyPr spcFirstLastPara="1" vertOverflow="ellipsis" horzOverflow="overflow" wrap="square" lIns="0" tIns="0" rIns="0" bIns="0" anchor="ctr" anchorCtr="1"/>
        <a:lstStyle/>
        <a:p>
          <a:pPr algn="ctr" rtl="0">
            <a:defRPr sz="2000"/>
          </a:pPr>
          <a:endParaRPr lang="es-ES" sz="2000" b="0" i="0" u="none" strike="noStrike" baseline="0">
            <a:solidFill>
              <a:srgbClr val="44546A"/>
            </a:solidFill>
            <a:latin typeface="Calibri" panose="020F0502020204030204"/>
          </a:endParaRPr>
        </a:p>
      </cx:txPr>
    </cx:legend>
  </cx:chart>
</cx: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85">
  <cs:axisTitle>
    <cs:lnRef idx="0"/>
    <cs:fillRef idx="0"/>
    <cs:effectRef idx="0"/>
    <cs:fontRef idx="minor">
      <a:schemeClr val="tx2"/>
    </cs:fontRef>
    <cs:defRPr sz="9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cs:chartArea>
  <cs:dataLabel>
    <cs:lnRef idx="0"/>
    <cs:fillRef idx="0"/>
    <cs:effectRef idx="0"/>
    <cs:fontRef idx="minor">
      <a:schemeClr val="lt1"/>
    </cs:fontRef>
    <cs:defRPr sz="900"/>
  </cs:dataLabel>
  <cs:dataLabelCallout>
    <cs:lnRef idx="0"/>
    <cs:fillRef idx="0"/>
    <cs:effectRef idx="0"/>
    <cs:fontRef idx="minor">
      <a:schemeClr val="dk1"/>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2"/>
    </cs:fontRef>
    <cs:spPr>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ln>
        <a:solidFill>
          <a:schemeClr val="bg1"/>
        </a:solidFill>
      </a:ln>
    </cs:spPr>
  </cs:dataPoint>
  <cs:dataPoint3D>
    <cs:lnRef idx="0"/>
    <cs:fillRef idx="0">
      <cs:styleClr val="auto"/>
    </cs:fillRef>
    <cs:effectRef idx="0"/>
    <cs:fontRef idx="minor">
      <a:schemeClr val="tx2"/>
    </cs:fontRef>
    <cs:spPr>
      <a:solidFill>
        <a:schemeClr val="phClr"/>
      </a:solidFill>
    </cs:spPr>
  </cs:dataPoint3D>
  <cs:dataPointLine>
    <cs:lnRef idx="0">
      <cs:styleClr val="auto"/>
    </cs:lnRef>
    <cs:fillRef idx="0"/>
    <cs:effectRef idx="0"/>
    <cs:fontRef idx="minor">
      <a:schemeClr val="tx2"/>
    </cs:fontRef>
    <cs:spPr>
      <a:ln w="28575" cap="rnd">
        <a:solidFill>
          <a:schemeClr val="phClr"/>
        </a:solidFill>
        <a:round/>
      </a:ln>
    </cs:spPr>
  </cs:dataPointLine>
  <cs:dataPointMarker>
    <cs:lnRef idx="0"/>
    <cs:fillRef idx="0">
      <cs:styleClr val="auto"/>
    </cs:fillRef>
    <cs:effectRef idx="0"/>
    <cs:fontRef idx="minor">
      <a:schemeClr val="tx2"/>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2"/>
    </cs:fontRef>
    <cs:spPr>
      <a:ln w="2857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15000"/>
            <a:lumOff val="85000"/>
            <a:lumOff val="10000"/>
          </a:schemeClr>
        </a:solidFill>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2"/>
    </cs:fontRef>
    <cs:defRPr sz="9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cs:seriesAxis>
  <cs:seriesLine>
    <cs:lnRef idx="0"/>
    <cs:fillRef idx="0"/>
    <cs:effectRef idx="0"/>
    <cs:fontRef idx="minor">
      <a:schemeClr val="tx2"/>
    </cs:fontRef>
    <cs:spPr>
      <a:ln w="9525" cap="flat">
        <a:solidFill>
          <a:srgbClr val="D9D9D9"/>
        </a:solidFill>
        <a:round/>
      </a:ln>
    </cs:spPr>
  </cs:seriesLine>
  <cs:title>
    <cs:lnRef idx="0"/>
    <cs:fillRef idx="0"/>
    <cs:effectRef idx="0"/>
    <cs:fontRef idx="minor">
      <a:schemeClr val="tx2"/>
    </cs:fontRef>
    <cs:defRPr sz="1600" b="1"/>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cs:valueAxis>
  <cs:wall>
    <cs:lnRef idx="0"/>
    <cs:fillRef idx="0"/>
    <cs:effectRef idx="0"/>
    <cs:fontRef idx="minor">
      <a:schemeClr val="tx2"/>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88369B9F-131C-2846-AB8F-CEE154B4CAEB}" type="datetimeFigureOut">
              <a:rPr lang="es-CO" smtClean="0"/>
              <a:t>4/03/2026</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s-CO"/>
          </a:p>
        </p:txBody>
      </p:sp>
      <p:sp>
        <p:nvSpPr>
          <p:cNvPr id="3" name="Marcador de fecha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9660CB96-A603-FF42-AE46-F5F75F80A67B}" type="datetimeFigureOut">
              <a:rPr lang="es-CO" smtClean="0"/>
              <a:t>4/03/2026</a:t>
            </a:fld>
            <a:endParaRPr lang="es-CO"/>
          </a:p>
        </p:txBody>
      </p:sp>
      <p:sp>
        <p:nvSpPr>
          <p:cNvPr id="4" name="Marcador de imagen de diapositiva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s-CO"/>
          </a:p>
        </p:txBody>
      </p:sp>
      <p:sp>
        <p:nvSpPr>
          <p:cNvPr id="5" name="Marcador de notas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s-CO"/>
          </a:p>
        </p:txBody>
      </p:sp>
      <p:sp>
        <p:nvSpPr>
          <p:cNvPr id="7" name="Marcador de número de diapositiva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4/03/2026</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4/03/2026</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4/03/2026</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4/03/2026</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4/03/2026</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4/03/2026</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4/03/2026</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4/03/2026</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4/03/2026</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4/03/2026</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4/03/2026</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4/03/2026</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4/03/2026</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4.gif"/><Relationship Id="rId4" Type="http://schemas.openxmlformats.org/officeDocument/2006/relationships/image" Target="../media/image13.gif"/></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14.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5.gif"/></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6.gif"/></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7.gif"/></Relationships>
</file>

<file path=ppt/slides/_rels/slide19.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image" Target="../media/image32.gif"/><Relationship Id="rId1" Type="http://schemas.openxmlformats.org/officeDocument/2006/relationships/slideLayout" Target="../slideLayouts/slideLayout7.xml"/><Relationship Id="rId6" Type="http://schemas.openxmlformats.org/officeDocument/2006/relationships/image" Target="../media/image36.gif"/><Relationship Id="rId5" Type="http://schemas.openxmlformats.org/officeDocument/2006/relationships/image" Target="../media/image35.gif"/><Relationship Id="rId4" Type="http://schemas.openxmlformats.org/officeDocument/2006/relationships/image" Target="../media/image34.gi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15D167A-EE62-EA02-E6F4-53710691F485}"/>
              </a:ext>
            </a:extLst>
          </p:cNvPr>
          <p:cNvSpPr txBox="1"/>
          <p:nvPr/>
        </p:nvSpPr>
        <p:spPr>
          <a:xfrm>
            <a:off x="1224306" y="1519352"/>
            <a:ext cx="5012721" cy="3416320"/>
          </a:xfrm>
          <a:prstGeom prst="rect">
            <a:avLst/>
          </a:prstGeom>
          <a:noFill/>
        </p:spPr>
        <p:txBody>
          <a:bodyPr wrap="square" rtlCol="0">
            <a:spAutoFit/>
          </a:bodyPr>
          <a:lstStyle/>
          <a:p>
            <a:pPr marL="0" marR="0" lvl="0" indent="0" algn="l" defTabSz="914400" rtl="0" eaLnBrk="1" fontAlgn="auto" latinLnBrk="0" hangingPunct="1">
              <a:spcBef>
                <a:spcPts val="0"/>
              </a:spcBef>
              <a:spcAft>
                <a:spcPts val="0"/>
              </a:spcAft>
              <a:buClrTx/>
              <a:buSzTx/>
              <a:buFontTx/>
              <a:buNone/>
              <a:tabLst/>
              <a:defRPr/>
            </a:pPr>
            <a:r>
              <a:rPr kumimoji="0" lang="es-ES" sz="5400" b="1" i="0" u="none" strike="noStrike" kern="1200" cap="none" spc="0" normalizeH="0" baseline="0" noProof="0" dirty="0">
                <a:ln>
                  <a:noFill/>
                </a:ln>
                <a:solidFill>
                  <a:prstClr val="black">
                    <a:lumMod val="75000"/>
                    <a:lumOff val="25000"/>
                  </a:prstClr>
                </a:solidFill>
                <a:effectLst>
                  <a:outerShdw blurRad="38100" dist="38100" dir="2700000" algn="tl">
                    <a:srgbClr val="000000">
                      <a:alpha val="43137"/>
                    </a:srgbClr>
                  </a:outerShdw>
                </a:effectLst>
                <a:uLnTx/>
                <a:uFillTx/>
                <a:latin typeface="Times New Roman" panose="02020603050405020304" pitchFamily="18" charset="0"/>
                <a:cs typeface="Times New Roman" panose="02020603050405020304" pitchFamily="18" charset="0"/>
              </a:rPr>
              <a:t>Sistema de Información </a:t>
            </a:r>
          </a:p>
          <a:p>
            <a:pPr marL="0" marR="0" lvl="0" indent="0" algn="l" defTabSz="914400" rtl="0" eaLnBrk="1" fontAlgn="auto" latinLnBrk="0" hangingPunct="1">
              <a:spcBef>
                <a:spcPts val="0"/>
              </a:spcBef>
              <a:spcAft>
                <a:spcPts val="0"/>
              </a:spcAft>
              <a:buClrTx/>
              <a:buSzTx/>
              <a:buFontTx/>
              <a:buNone/>
              <a:tabLst/>
              <a:defRPr/>
            </a:pPr>
            <a:r>
              <a:rPr lang="es-ES" sz="5400" b="1" dirty="0">
                <a:solidFill>
                  <a:prstClr val="black">
                    <a:lumMod val="75000"/>
                    <a:lumOff val="25000"/>
                  </a:prst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“Zoolomascotas MX”.</a:t>
            </a:r>
            <a:endParaRPr kumimoji="0" lang="es-ES" sz="4000" b="1" i="0" u="none" strike="noStrike" kern="1200" cap="none" spc="0" normalizeH="0" baseline="0" noProof="0" dirty="0">
              <a:ln>
                <a:noFill/>
              </a:ln>
              <a:solidFill>
                <a:prstClr val="black">
                  <a:lumMod val="75000"/>
                  <a:lumOff val="25000"/>
                </a:prstClr>
              </a:solidFill>
              <a:effectLst>
                <a:outerShdw blurRad="38100" dist="38100" dir="2700000" algn="tl">
                  <a:srgbClr val="000000">
                    <a:alpha val="43137"/>
                  </a:srgbClr>
                </a:outerShdw>
              </a:effectLst>
              <a:uLnTx/>
              <a:uFillTx/>
              <a:latin typeface="Times New Roman" panose="02020603050405020304" pitchFamily="18" charset="0"/>
              <a:cs typeface="Times New Roman" panose="02020603050405020304" pitchFamily="18" charset="0"/>
            </a:endParaRPr>
          </a:p>
        </p:txBody>
      </p:sp>
      <p:pic>
        <p:nvPicPr>
          <p:cNvPr id="1030" name="Picture 6" descr="X-Ray Vintage GIF by U.S. National Archives">
            <a:extLst>
              <a:ext uri="{FF2B5EF4-FFF2-40B4-BE49-F238E27FC236}">
                <a16:creationId xmlns:a16="http://schemas.microsoft.com/office/drawing/2014/main" id="{A196F9C3-19F7-4B18-AA93-AFC6CECD1E13}"/>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557395" y="2179913"/>
            <a:ext cx="3385024" cy="2498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726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1FEF253-53C4-B5FA-07C7-0B039B14F52F}"/>
              </a:ext>
            </a:extLst>
          </p:cNvPr>
          <p:cNvSpPr txBox="1"/>
          <p:nvPr/>
        </p:nvSpPr>
        <p:spPr>
          <a:xfrm>
            <a:off x="570451" y="1130951"/>
            <a:ext cx="10981189" cy="2123658"/>
          </a:xfrm>
          <a:prstGeom prst="rect">
            <a:avLst/>
          </a:prstGeom>
          <a:noFill/>
        </p:spPr>
        <p:txBody>
          <a:bodyPr wrap="square" rtlCol="0">
            <a:spAutoFit/>
          </a:bodyPr>
          <a:lstStyle/>
          <a:p>
            <a:pPr marR="0" lvl="0" indent="0" algn="ctr" fontAlgn="auto">
              <a:lnSpc>
                <a:spcPct val="100000"/>
              </a:lnSpc>
              <a:spcBef>
                <a:spcPts val="0"/>
              </a:spcBef>
              <a:spcAft>
                <a:spcPts val="0"/>
              </a:spcAft>
              <a:buClrTx/>
              <a:buSzTx/>
              <a:buFontTx/>
              <a:buNone/>
              <a:tabLst/>
              <a:defRPr/>
            </a:pPr>
            <a:r>
              <a:rPr lang="es-CO" sz="6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INTEGRANTES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7200" b="1" u="none" strike="noStrike" kern="1200" cap="none" spc="0" normalizeH="0" baseline="0" noProof="0" dirty="0">
              <a:ln>
                <a:noFill/>
              </a:ln>
              <a:solidFill>
                <a:srgbClr val="4D4D4C"/>
              </a:solidFill>
              <a:effectLst/>
              <a:uLnTx/>
              <a:uFillTx/>
              <a:latin typeface="WORK SANS BOLD ROMAN" pitchFamily="2" charset="77"/>
            </a:endParaRPr>
          </a:p>
        </p:txBody>
      </p:sp>
      <p:cxnSp>
        <p:nvCxnSpPr>
          <p:cNvPr id="3" name="Conector recto 2">
            <a:extLst>
              <a:ext uri="{FF2B5EF4-FFF2-40B4-BE49-F238E27FC236}">
                <a16:creationId xmlns:a16="http://schemas.microsoft.com/office/drawing/2014/main" id="{AE0C963B-97B4-4F66-1B49-0B47BC7F0F1A}"/>
              </a:ext>
            </a:extLst>
          </p:cNvPr>
          <p:cNvCxnSpPr>
            <a:cxnSpLocks/>
          </p:cNvCxnSpPr>
          <p:nvPr/>
        </p:nvCxnSpPr>
        <p:spPr>
          <a:xfrm>
            <a:off x="4611502" y="2262931"/>
            <a:ext cx="3173482"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8CF8A9CD-A507-42EF-B5BF-F40C9FB73239}"/>
              </a:ext>
            </a:extLst>
          </p:cNvPr>
          <p:cNvSpPr txBox="1"/>
          <p:nvPr/>
        </p:nvSpPr>
        <p:spPr>
          <a:xfrm>
            <a:off x="3013744" y="2433911"/>
            <a:ext cx="6094602" cy="1922001"/>
          </a:xfrm>
          <a:prstGeom prst="rect">
            <a:avLst/>
          </a:prstGeom>
          <a:noFill/>
        </p:spPr>
        <p:txBody>
          <a:bodyPr wrap="square">
            <a:spAutoFit/>
          </a:bodyPr>
          <a:lstStyle/>
          <a:p>
            <a:pPr algn="ctr">
              <a:lnSpc>
                <a:spcPct val="107000"/>
              </a:lnSpc>
              <a:spcAft>
                <a:spcPts val="800"/>
              </a:spcAft>
            </a:pPr>
            <a:r>
              <a:rPr lang="es-419" sz="2800" i="1" dirty="0">
                <a:latin typeface="Garamond" panose="02020404030301010803" pitchFamily="18" charset="0"/>
                <a:cs typeface="Times New Roman" panose="02020603050405020304" pitchFamily="18" charset="0"/>
              </a:rPr>
              <a:t>Nelson González</a:t>
            </a:r>
            <a:br>
              <a:rPr lang="es-419" sz="2800" i="1" dirty="0">
                <a:latin typeface="Garamond" panose="02020404030301010803" pitchFamily="18" charset="0"/>
                <a:cs typeface="Times New Roman" panose="02020603050405020304" pitchFamily="18" charset="0"/>
              </a:rPr>
            </a:br>
            <a:r>
              <a:rPr lang="es-419" sz="2800" i="1" dirty="0">
                <a:latin typeface="Garamond" panose="02020404030301010803" pitchFamily="18" charset="0"/>
                <a:cs typeface="Times New Roman" panose="02020603050405020304" pitchFamily="18" charset="0"/>
              </a:rPr>
              <a:t>Alejandra Cortés</a:t>
            </a:r>
            <a:br>
              <a:rPr lang="es-419" sz="2800" i="1" dirty="0">
                <a:latin typeface="Garamond" panose="02020404030301010803" pitchFamily="18" charset="0"/>
                <a:cs typeface="Times New Roman" panose="02020603050405020304" pitchFamily="18" charset="0"/>
              </a:rPr>
            </a:br>
            <a:r>
              <a:rPr lang="es-419" sz="2800" i="1" dirty="0">
                <a:latin typeface="Garamond" panose="02020404030301010803" pitchFamily="18" charset="0"/>
                <a:cs typeface="Times New Roman" panose="02020603050405020304" pitchFamily="18" charset="0"/>
              </a:rPr>
              <a:t>Carol Benavides</a:t>
            </a:r>
            <a:br>
              <a:rPr lang="es-419" sz="2800" i="1" dirty="0">
                <a:latin typeface="Garamond" panose="02020404030301010803" pitchFamily="18" charset="0"/>
                <a:cs typeface="Times New Roman" panose="02020603050405020304" pitchFamily="18" charset="0"/>
              </a:rPr>
            </a:br>
            <a:r>
              <a:rPr lang="es-419" sz="2800" i="1" dirty="0">
                <a:latin typeface="Garamond" panose="02020404030301010803" pitchFamily="18" charset="0"/>
                <a:cs typeface="Times New Roman" panose="02020603050405020304" pitchFamily="18" charset="0"/>
              </a:rPr>
              <a:t>Nicolás Murcia</a:t>
            </a:r>
          </a:p>
        </p:txBody>
      </p:sp>
      <p:pic>
        <p:nvPicPr>
          <p:cNvPr id="4102" name="Picture 6" descr="Penguin Studying Sticker by Pudgy Penguins">
            <a:extLst>
              <a:ext uri="{FF2B5EF4-FFF2-40B4-BE49-F238E27FC236}">
                <a16:creationId xmlns:a16="http://schemas.microsoft.com/office/drawing/2014/main" id="{0D5B6516-D847-F0E8-0917-D383CDB8CA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7122" y="4386589"/>
            <a:ext cx="2157756" cy="2157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2444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79672" y="2826522"/>
            <a:ext cx="12032655" cy="861774"/>
          </a:xfrm>
          <a:prstGeom prst="rect">
            <a:avLst/>
          </a:prstGeom>
          <a:noFill/>
        </p:spPr>
        <p:txBody>
          <a:bodyPr wrap="square" rtlCol="0">
            <a:spAutoFit/>
          </a:bodyPr>
          <a:lstStyle/>
          <a:p>
            <a:pPr algn="ctr">
              <a:defRPr/>
            </a:pPr>
            <a:r>
              <a:rPr lang="es-419" sz="5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FORMULACIÓN DEL PROYECTO</a:t>
            </a: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3635072" y="3692488"/>
            <a:ext cx="492185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074" name="Picture 2" descr="disney animation group photo GIF by Disney">
            <a:extLst>
              <a:ext uri="{FF2B5EF4-FFF2-40B4-BE49-F238E27FC236}">
                <a16:creationId xmlns:a16="http://schemas.microsoft.com/office/drawing/2014/main" id="{85D29974-CC8E-5A6A-CF9B-DDBE155F51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667" y="4146273"/>
            <a:ext cx="4000665" cy="2241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69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F6697F3-B1A3-FADB-1243-D89866428CB1}"/>
              </a:ext>
            </a:extLst>
          </p:cNvPr>
          <p:cNvSpPr txBox="1"/>
          <p:nvPr/>
        </p:nvSpPr>
        <p:spPr>
          <a:xfrm>
            <a:off x="5957951" y="1147604"/>
            <a:ext cx="6068114" cy="5632311"/>
          </a:xfrm>
          <a:prstGeom prst="rect">
            <a:avLst/>
          </a:prstGeom>
          <a:noFill/>
        </p:spPr>
        <p:txBody>
          <a:bodyPr wrap="square" rtlCol="0">
            <a:spAutoFit/>
          </a:bodyPr>
          <a:lstStyle/>
          <a:p>
            <a:pPr algn="ctr"/>
            <a:r>
              <a:rPr lang="es-MX" sz="2000" dirty="0">
                <a:latin typeface="Garamond" panose="02020404030301010803" pitchFamily="18" charset="0"/>
                <a:cs typeface="Times New Roman" panose="02020603050405020304" pitchFamily="18" charset="0"/>
              </a:rPr>
              <a:t>La veterinaria Zoolomascotas MX es un establecimiento dedicado a brindar servicios de cuidado y bienestar para mascotas, ofreciendo servicios como consultas médicas, vacunación, procedimientos básicos, hospitalización y venta de productos veterinarios.</a:t>
            </a:r>
          </a:p>
          <a:p>
            <a:pPr algn="ctr"/>
            <a:endParaRPr lang="es-MX" sz="2000" dirty="0">
              <a:latin typeface="Garamond" panose="02020404030301010803" pitchFamily="18" charset="0"/>
              <a:cs typeface="Times New Roman" panose="02020603050405020304" pitchFamily="18" charset="0"/>
            </a:endParaRPr>
          </a:p>
          <a:p>
            <a:pPr algn="ctr"/>
            <a:r>
              <a:rPr lang="es-MX" sz="2000" dirty="0">
                <a:latin typeface="Garamond" panose="02020404030301010803" pitchFamily="18" charset="0"/>
                <a:cs typeface="Times New Roman" panose="02020603050405020304" pitchFamily="18" charset="0"/>
              </a:rPr>
              <a:t>A partir de las actividades de levantamiento de información realizadas en la veterinaria, se identificaron diversas dificultades en sus procesos internos. Entre ellas destacan los retrasos en la gestión de citas, la falta de control adecuado sobre los casos de hospitalización y las dificultades en el acceso al historial clínico de las mascotas, en parte debido a que el registro y procesamiento de esta información se lleva a cabo de manera manual. Esta situación puede generar pérdida de datos, inconsistencias en los tratamientos, complicaciones en el seguimiento de vacunas, hospitalizaciones y controles, así como fallas en el manejo del inventario de medicamentos y productos.</a:t>
            </a:r>
            <a:endParaRPr lang="es-CO" sz="2000" dirty="0">
              <a:latin typeface="Garamond" panose="02020404030301010803" pitchFamily="18" charset="0"/>
              <a:cs typeface="Times New Roman" panose="02020603050405020304" pitchFamily="18" charset="0"/>
            </a:endParaRPr>
          </a:p>
        </p:txBody>
      </p:sp>
      <p:cxnSp>
        <p:nvCxnSpPr>
          <p:cNvPr id="4" name="Conector recto 3">
            <a:extLst>
              <a:ext uri="{FF2B5EF4-FFF2-40B4-BE49-F238E27FC236}">
                <a16:creationId xmlns:a16="http://schemas.microsoft.com/office/drawing/2014/main" id="{669DD18A-AB54-34AC-A662-0BDC60B050FF}"/>
              </a:ext>
            </a:extLst>
          </p:cNvPr>
          <p:cNvCxnSpPr>
            <a:cxnSpLocks/>
          </p:cNvCxnSpPr>
          <p:nvPr/>
        </p:nvCxnSpPr>
        <p:spPr>
          <a:xfrm>
            <a:off x="5950226" y="1043030"/>
            <a:ext cx="5965675" cy="0"/>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pic>
        <p:nvPicPr>
          <p:cNvPr id="5122" name="Picture 2" descr="Cats Question GIF by Boucheron">
            <a:extLst>
              <a:ext uri="{FF2B5EF4-FFF2-40B4-BE49-F238E27FC236}">
                <a16:creationId xmlns:a16="http://schemas.microsoft.com/office/drawing/2014/main" id="{A105ED6E-DA34-41E0-AE74-73BB997793A3}"/>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0" y="72626"/>
            <a:ext cx="6068114" cy="6068114"/>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B3F7AB16-0C33-42C8-A77F-CC82E0E0CA19}"/>
              </a:ext>
            </a:extLst>
          </p:cNvPr>
          <p:cNvSpPr txBox="1"/>
          <p:nvPr/>
        </p:nvSpPr>
        <p:spPr>
          <a:xfrm>
            <a:off x="5707948" y="476792"/>
            <a:ext cx="6094602" cy="461665"/>
          </a:xfrm>
          <a:prstGeom prst="rect">
            <a:avLst/>
          </a:prstGeom>
          <a:noFill/>
        </p:spPr>
        <p:txBody>
          <a:bodyPr wrap="square">
            <a:spAutoFit/>
          </a:bodyPr>
          <a:lstStyle/>
          <a:p>
            <a:pPr algn="ctr">
              <a:defRPr/>
            </a:pPr>
            <a:r>
              <a:rPr lang="es-419" sz="24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PLANTEAMIENTO</a:t>
            </a:r>
            <a:r>
              <a:rPr lang="es-419" sz="24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 </a:t>
            </a:r>
            <a:r>
              <a:rPr lang="es-419" sz="24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DEL PROBLEMA</a:t>
            </a:r>
          </a:p>
        </p:txBody>
      </p:sp>
    </p:spTree>
    <p:extLst>
      <p:ext uri="{BB962C8B-B14F-4D97-AF65-F5344CB8AC3E}">
        <p14:creationId xmlns:p14="http://schemas.microsoft.com/office/powerpoint/2010/main" val="3038000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6C31FC2-6C63-0CB9-C78D-1723D5E9DD66}"/>
              </a:ext>
            </a:extLst>
          </p:cNvPr>
          <p:cNvSpPr txBox="1"/>
          <p:nvPr/>
        </p:nvSpPr>
        <p:spPr>
          <a:xfrm>
            <a:off x="649357" y="1289830"/>
            <a:ext cx="7353170" cy="5027979"/>
          </a:xfrm>
          <a:prstGeom prst="rect">
            <a:avLst/>
          </a:prstGeom>
          <a:noFill/>
        </p:spPr>
        <p:txBody>
          <a:bodyPr wrap="square" rtlCol="0">
            <a:spAutoFit/>
          </a:bodyPr>
          <a:lstStyle/>
          <a:p>
            <a:pPr algn="ctr"/>
            <a:r>
              <a:rPr lang="es-MX" sz="2000" dirty="0">
                <a:latin typeface="Garamond" panose="02020404030301010803" pitchFamily="18" charset="0"/>
                <a:cs typeface="Times New Roman" panose="02020603050405020304" pitchFamily="18" charset="0"/>
              </a:rPr>
              <a:t>A partir del análisis de la problemática identificada en la clínica veterinaria Zoolomascotas MX, se evidenció que procesos como la gestión de citas, los historiales clínicos, la hospitalización y el inventario de medicamentos se realizan de forma manual y poco organizada. Esto genera demoras, pérdidas de información y dificultades para acceder a datos importantes durante la atención y el seguimiento de las mascotas, afectando la eficiencia del personal y la calidad del servicio ofrecido a los propietarios.</a:t>
            </a:r>
          </a:p>
          <a:p>
            <a:pPr algn="ctr"/>
            <a:endParaRPr lang="es-MX" sz="2000" dirty="0">
              <a:latin typeface="Garamond" panose="02020404030301010803" pitchFamily="18" charset="0"/>
              <a:cs typeface="Times New Roman" panose="02020603050405020304" pitchFamily="18" charset="0"/>
            </a:endParaRPr>
          </a:p>
          <a:p>
            <a:pPr algn="ctr"/>
            <a:r>
              <a:rPr lang="es-MX" sz="2000" dirty="0">
                <a:latin typeface="Garamond" panose="02020404030301010803" pitchFamily="18" charset="0"/>
                <a:cs typeface="Times New Roman" panose="02020603050405020304" pitchFamily="18" charset="0"/>
              </a:rPr>
              <a:t>Para mejorar el rendimiento en la prestación de sus servicios, se hace necesario implementar un sistema de información que apoye y centralice estos procesos. Con ello, la veterinaria contará con información oportuna y veraz, lo que permitirá agilizar las actividades internas, reducir errores y ofrecer una atención más organizada, eficiente y confiable tanto para los empleados como para los clientes.</a:t>
            </a:r>
          </a:p>
          <a:p>
            <a:pPr algn="ctr">
              <a:lnSpc>
                <a:spcPct val="107000"/>
              </a:lnSpc>
              <a:spcAft>
                <a:spcPts val="800"/>
              </a:spcAft>
              <a:defRPr/>
            </a:pPr>
            <a:endParaRPr lang="es-MX" sz="2000" dirty="0">
              <a:latin typeface="Garamond" panose="02020404030301010803" pitchFamily="18" charset="0"/>
              <a:cs typeface="Times New Roman" panose="02020603050405020304" pitchFamily="18" charset="0"/>
            </a:endParaRPr>
          </a:p>
        </p:txBody>
      </p:sp>
      <p:pic>
        <p:nvPicPr>
          <p:cNvPr id="4" name="Picture 2" descr="Cartoon gif. A chubby baby chicken has a hula skirt on and moves his hips back and forth while wiggling his wings in the air. He has rosy cheeks and a happy, satisfied look on his face.">
            <a:extLst>
              <a:ext uri="{FF2B5EF4-FFF2-40B4-BE49-F238E27FC236}">
                <a16:creationId xmlns:a16="http://schemas.microsoft.com/office/drawing/2014/main" id="{C0F1DAB5-3C2A-4184-8934-7FF83CAAB58B}"/>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645223" y="1889619"/>
            <a:ext cx="3078761" cy="3078761"/>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39AA8D7-F4EB-4B94-AE35-5969023F9B8D}"/>
              </a:ext>
            </a:extLst>
          </p:cNvPr>
          <p:cNvSpPr txBox="1"/>
          <p:nvPr/>
        </p:nvSpPr>
        <p:spPr>
          <a:xfrm>
            <a:off x="1201724" y="447036"/>
            <a:ext cx="6094602" cy="553998"/>
          </a:xfrm>
          <a:prstGeom prst="rect">
            <a:avLst/>
          </a:prstGeom>
          <a:noFill/>
        </p:spPr>
        <p:txBody>
          <a:bodyPr wrap="square">
            <a:spAutoFit/>
          </a:bodyPr>
          <a:lstStyle/>
          <a:p>
            <a:pPr algn="ctr">
              <a:defRPr/>
            </a:pPr>
            <a:r>
              <a:rPr lang="es-419" sz="3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JUSTIFICACIÓN</a:t>
            </a:r>
            <a:endParaRPr kumimoji="0" lang="es-CO" sz="3000" b="1" u="none" strike="noStrike" kern="1200" cap="none" spc="0" normalizeH="0" baseline="0" noProof="0" dirty="0">
              <a:ln>
                <a:noFill/>
              </a:ln>
              <a:solidFill>
                <a:schemeClr val="bg1"/>
              </a:solidFill>
              <a:effectLst/>
              <a:uLnTx/>
              <a:uFillTx/>
              <a:latin typeface="WORK SANS BOLD ROMAN" pitchFamily="2" charset="77"/>
            </a:endParaRPr>
          </a:p>
        </p:txBody>
      </p:sp>
      <p:cxnSp>
        <p:nvCxnSpPr>
          <p:cNvPr id="8" name="Conector recto 7">
            <a:extLst>
              <a:ext uri="{FF2B5EF4-FFF2-40B4-BE49-F238E27FC236}">
                <a16:creationId xmlns:a16="http://schemas.microsoft.com/office/drawing/2014/main" id="{B3D521E5-1AA7-46FB-887E-220E2CBBC43C}"/>
              </a:ext>
            </a:extLst>
          </p:cNvPr>
          <p:cNvCxnSpPr>
            <a:cxnSpLocks/>
          </p:cNvCxnSpPr>
          <p:nvPr/>
        </p:nvCxnSpPr>
        <p:spPr>
          <a:xfrm>
            <a:off x="516098" y="1138806"/>
            <a:ext cx="770511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8058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1FEF253-53C4-B5FA-07C7-0B039B14F52F}"/>
              </a:ext>
            </a:extLst>
          </p:cNvPr>
          <p:cNvSpPr txBox="1"/>
          <p:nvPr/>
        </p:nvSpPr>
        <p:spPr>
          <a:xfrm>
            <a:off x="605405" y="1845229"/>
            <a:ext cx="10981189" cy="1015663"/>
          </a:xfrm>
          <a:prstGeom prst="rect">
            <a:avLst/>
          </a:prstGeom>
          <a:noFill/>
        </p:spPr>
        <p:txBody>
          <a:bodyPr wrap="square" rtlCol="0">
            <a:spAutoFit/>
          </a:bodyPr>
          <a:lstStyle/>
          <a:p>
            <a:pPr algn="ctr">
              <a:defRPr/>
            </a:pPr>
            <a:r>
              <a:rPr lang="es-419" sz="6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PREGUNTA DEL PROYECTO</a:t>
            </a:r>
            <a:endParaRPr kumimoji="0" lang="es-CO" sz="7200" b="1" u="none" strike="noStrike" kern="1200" cap="none" spc="0" normalizeH="0" baseline="0" noProof="0" dirty="0">
              <a:ln>
                <a:noFill/>
              </a:ln>
              <a:solidFill>
                <a:srgbClr val="4D4D4C"/>
              </a:solidFill>
              <a:effectLst/>
              <a:uLnTx/>
              <a:uFillTx/>
              <a:latin typeface="WORK SANS BOLD ROMAN" pitchFamily="2" charset="77"/>
            </a:endParaRPr>
          </a:p>
        </p:txBody>
      </p:sp>
      <p:cxnSp>
        <p:nvCxnSpPr>
          <p:cNvPr id="3" name="Conector recto 2">
            <a:extLst>
              <a:ext uri="{FF2B5EF4-FFF2-40B4-BE49-F238E27FC236}">
                <a16:creationId xmlns:a16="http://schemas.microsoft.com/office/drawing/2014/main" id="{AE0C963B-97B4-4F66-1B49-0B47BC7F0F1A}"/>
              </a:ext>
            </a:extLst>
          </p:cNvPr>
          <p:cNvCxnSpPr>
            <a:cxnSpLocks/>
          </p:cNvCxnSpPr>
          <p:nvPr/>
        </p:nvCxnSpPr>
        <p:spPr>
          <a:xfrm>
            <a:off x="4509258" y="3004930"/>
            <a:ext cx="3173482"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9388A4DF-720D-E501-986E-D50B788D2F61}"/>
              </a:ext>
            </a:extLst>
          </p:cNvPr>
          <p:cNvSpPr txBox="1"/>
          <p:nvPr/>
        </p:nvSpPr>
        <p:spPr>
          <a:xfrm>
            <a:off x="861998" y="3216563"/>
            <a:ext cx="10981188" cy="646331"/>
          </a:xfrm>
          <a:prstGeom prst="rect">
            <a:avLst/>
          </a:prstGeom>
          <a:noFill/>
        </p:spPr>
        <p:txBody>
          <a:bodyPr wrap="square" rtlCol="0">
            <a:spAutoFit/>
          </a:bodyPr>
          <a:lstStyle/>
          <a:p>
            <a:pPr algn="ctr">
              <a:defRPr/>
            </a:pPr>
            <a:r>
              <a:rPr lang="es-MX" dirty="0">
                <a:latin typeface="Garamond" panose="02020404030301010803" pitchFamily="18" charset="0"/>
                <a:cs typeface="Times New Roman" panose="02020603050405020304" pitchFamily="18" charset="0"/>
              </a:rPr>
              <a:t>¿De qué manera se puede gestionar de forma eficiente la gestión de citas, historiales clínicos, hospitalizaciones, inventario y atención al cliente en la veterinaria Zoolomascotas MX?</a:t>
            </a:r>
          </a:p>
        </p:txBody>
      </p:sp>
      <p:pic>
        <p:nvPicPr>
          <p:cNvPr id="4098" name="Picture 2" descr="Video gif. A fluffy husky puppy cocks his head to the side in an expression of playful confusion while blue question marks emanate from his head. ">
            <a:extLst>
              <a:ext uri="{FF2B5EF4-FFF2-40B4-BE49-F238E27FC236}">
                <a16:creationId xmlns:a16="http://schemas.microsoft.com/office/drawing/2014/main" id="{5A4FAFC5-17CC-43E0-8C3B-D9F135B6EB61}"/>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906510" y="4218565"/>
            <a:ext cx="2378978" cy="2255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1142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1FEF253-53C4-B5FA-07C7-0B039B14F52F}"/>
              </a:ext>
            </a:extLst>
          </p:cNvPr>
          <p:cNvSpPr txBox="1"/>
          <p:nvPr/>
        </p:nvSpPr>
        <p:spPr>
          <a:xfrm>
            <a:off x="605405" y="1992702"/>
            <a:ext cx="10981189" cy="1015663"/>
          </a:xfrm>
          <a:prstGeom prst="rect">
            <a:avLst/>
          </a:prstGeom>
          <a:noFill/>
        </p:spPr>
        <p:txBody>
          <a:bodyPr wrap="square" rtlCol="0">
            <a:spAutoFit/>
          </a:bodyPr>
          <a:lstStyle/>
          <a:p>
            <a:pPr algn="ctr">
              <a:defRPr/>
            </a:pPr>
            <a:r>
              <a:rPr lang="es-419" sz="6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OBJETIVO</a:t>
            </a:r>
            <a:r>
              <a:rPr lang="es-419" sz="6000" b="1" dirty="0">
                <a:solidFill>
                  <a:srgbClr val="4D4D4C"/>
                </a:solidFill>
                <a:effectLst>
                  <a:outerShdw blurRad="38100" dist="38100" dir="2700000" algn="tl">
                    <a:srgbClr val="000000">
                      <a:alpha val="43137"/>
                    </a:srgbClr>
                  </a:outerShdw>
                </a:effectLst>
                <a:latin typeface="Arial" panose="020B0604020202020204" pitchFamily="34" charset="0"/>
                <a:cs typeface="Times New Roman" panose="02020603050405020304" pitchFamily="18" charset="0"/>
              </a:rPr>
              <a:t> </a:t>
            </a:r>
            <a:r>
              <a:rPr lang="es-419" sz="6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GENERAL</a:t>
            </a:r>
          </a:p>
        </p:txBody>
      </p:sp>
      <p:cxnSp>
        <p:nvCxnSpPr>
          <p:cNvPr id="3" name="Conector recto 2">
            <a:extLst>
              <a:ext uri="{FF2B5EF4-FFF2-40B4-BE49-F238E27FC236}">
                <a16:creationId xmlns:a16="http://schemas.microsoft.com/office/drawing/2014/main" id="{AE0C963B-97B4-4F66-1B49-0B47BC7F0F1A}"/>
              </a:ext>
            </a:extLst>
          </p:cNvPr>
          <p:cNvCxnSpPr>
            <a:cxnSpLocks/>
          </p:cNvCxnSpPr>
          <p:nvPr/>
        </p:nvCxnSpPr>
        <p:spPr>
          <a:xfrm>
            <a:off x="4509258" y="3135386"/>
            <a:ext cx="3173482"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9388A4DF-720D-E501-986E-D50B788D2F61}"/>
              </a:ext>
            </a:extLst>
          </p:cNvPr>
          <p:cNvSpPr txBox="1"/>
          <p:nvPr/>
        </p:nvSpPr>
        <p:spPr>
          <a:xfrm>
            <a:off x="545284" y="3387971"/>
            <a:ext cx="11241248" cy="1200329"/>
          </a:xfrm>
          <a:prstGeom prst="rect">
            <a:avLst/>
          </a:prstGeom>
          <a:noFill/>
        </p:spPr>
        <p:txBody>
          <a:bodyPr wrap="square" rtlCol="0">
            <a:spAutoFit/>
          </a:bodyPr>
          <a:lstStyle/>
          <a:p>
            <a:pPr algn="ctr">
              <a:defRPr/>
            </a:pPr>
            <a:r>
              <a:rPr lang="es-MX" dirty="0">
                <a:latin typeface="Garamond" panose="02020404030301010803" pitchFamily="18" charset="0"/>
                <a:cs typeface="Times New Roman" panose="02020603050405020304" pitchFamily="18" charset="0"/>
              </a:rPr>
              <a:t>Desarrollar un sistema de información que permita gestionar de manera centralizada las citas, las hospitalizaciones, las ventas y el inventario de la veterinaria “Zoolomascotas MX”, ubicada en el municipio de Soacha, con el propósito de optimizar sus procesos internos y mejorar la calidad del servicio.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s-CO" dirty="0">
              <a:latin typeface="Garamond" panose="02020404030301010803" pitchFamily="18" charset="0"/>
              <a:cs typeface="Times New Roman" panose="02020603050405020304" pitchFamily="18" charset="0"/>
            </a:endParaRPr>
          </a:p>
        </p:txBody>
      </p:sp>
      <p:pic>
        <p:nvPicPr>
          <p:cNvPr id="7170" name="Picture 2" descr="dog veterinarian and cat">
            <a:extLst>
              <a:ext uri="{FF2B5EF4-FFF2-40B4-BE49-F238E27FC236}">
                <a16:creationId xmlns:a16="http://schemas.microsoft.com/office/drawing/2014/main" id="{4CE2414F-4290-64BA-67ED-E2C73ED06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4233" y="4305868"/>
            <a:ext cx="394335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2065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6C31FC2-6C63-0CB9-C78D-1723D5E9DD66}"/>
              </a:ext>
            </a:extLst>
          </p:cNvPr>
          <p:cNvSpPr txBox="1"/>
          <p:nvPr/>
        </p:nvSpPr>
        <p:spPr>
          <a:xfrm>
            <a:off x="197886" y="1922211"/>
            <a:ext cx="5797758" cy="646331"/>
          </a:xfrm>
          <a:prstGeom prst="rect">
            <a:avLst/>
          </a:prstGeom>
          <a:noFill/>
        </p:spPr>
        <p:txBody>
          <a:bodyPr wrap="square" rtlCol="0">
            <a:spAutoFit/>
          </a:bodyPr>
          <a:lstStyle/>
          <a:p>
            <a:pPr marL="285750" lvl="0" indent="-285750">
              <a:buFont typeface="Arial" panose="020B0604020202020204" pitchFamily="34" charset="0"/>
              <a:buChar char="•"/>
              <a:defRPr/>
            </a:pPr>
            <a:r>
              <a:rPr lang="es-419" dirty="0">
                <a:latin typeface="Garamond" panose="02020404030301010803" pitchFamily="18" charset="0"/>
                <a:cs typeface="Times New Roman" panose="02020603050405020304" pitchFamily="18" charset="0"/>
              </a:rPr>
              <a:t>Facilitar el agendamiento y programación de citas para los diferentes procesos brindados por la veterinaria.</a:t>
            </a:r>
            <a:endParaRPr lang="es-CO" dirty="0">
              <a:latin typeface="Garamond" panose="02020404030301010803" pitchFamily="18" charset="0"/>
              <a:cs typeface="Times New Roman" panose="02020603050405020304" pitchFamily="18" charset="0"/>
            </a:endParaRPr>
          </a:p>
        </p:txBody>
      </p:sp>
      <p:pic>
        <p:nvPicPr>
          <p:cNvPr id="11266" name="Picture 2" descr="We Are Back To The Moon GIF by Pudgy Penguins">
            <a:extLst>
              <a:ext uri="{FF2B5EF4-FFF2-40B4-BE49-F238E27FC236}">
                <a16:creationId xmlns:a16="http://schemas.microsoft.com/office/drawing/2014/main" id="{37AD8EDB-13D3-43C1-89F6-47FAEDDAC797}"/>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737324" y="1436614"/>
            <a:ext cx="1635154" cy="1428925"/>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B0C74DBC-D424-4985-B832-3E1716D77815}"/>
              </a:ext>
            </a:extLst>
          </p:cNvPr>
          <p:cNvSpPr txBox="1"/>
          <p:nvPr/>
        </p:nvSpPr>
        <p:spPr>
          <a:xfrm>
            <a:off x="5714517" y="3041522"/>
            <a:ext cx="6418760" cy="1200329"/>
          </a:xfrm>
          <a:prstGeom prst="rect">
            <a:avLst/>
          </a:prstGeom>
          <a:noFill/>
        </p:spPr>
        <p:txBody>
          <a:bodyPr wrap="square">
            <a:spAutoFit/>
          </a:bodyPr>
          <a:lstStyle/>
          <a:p>
            <a:pPr marL="285750" indent="-285750">
              <a:buFont typeface="Arial" panose="020B0604020202020204" pitchFamily="34" charset="0"/>
              <a:buChar char="•"/>
              <a:defRPr/>
            </a:pPr>
            <a:r>
              <a:rPr lang="es-MX" dirty="0">
                <a:latin typeface="Garamond" panose="02020404030301010803" pitchFamily="18" charset="0"/>
                <a:cs typeface="Times New Roman" panose="02020603050405020304" pitchFamily="18" charset="0"/>
              </a:rPr>
              <a:t>Implementar un sistema de ventas que permita registrar las transacciones y controlar las existencias de productos, optimizando la rotación y minimizando pérdidas económicas por vencimientos o mala gestión.</a:t>
            </a:r>
            <a:endParaRPr lang="es-419" dirty="0">
              <a:latin typeface="Garamond" panose="02020404030301010803" pitchFamily="18" charset="0"/>
              <a:cs typeface="Times New Roman" panose="02020603050405020304" pitchFamily="18" charset="0"/>
            </a:endParaRPr>
          </a:p>
        </p:txBody>
      </p:sp>
      <p:sp>
        <p:nvSpPr>
          <p:cNvPr id="12" name="CuadroTexto 11">
            <a:extLst>
              <a:ext uri="{FF2B5EF4-FFF2-40B4-BE49-F238E27FC236}">
                <a16:creationId xmlns:a16="http://schemas.microsoft.com/office/drawing/2014/main" id="{9931319F-78DD-4FFA-982E-D471952CE690}"/>
              </a:ext>
            </a:extLst>
          </p:cNvPr>
          <p:cNvSpPr txBox="1"/>
          <p:nvPr/>
        </p:nvSpPr>
        <p:spPr>
          <a:xfrm>
            <a:off x="5876596" y="5811288"/>
            <a:ext cx="6094602" cy="923330"/>
          </a:xfrm>
          <a:prstGeom prst="rect">
            <a:avLst/>
          </a:prstGeom>
          <a:noFill/>
        </p:spPr>
        <p:txBody>
          <a:bodyPr wrap="square">
            <a:spAutoFit/>
          </a:bodyPr>
          <a:lstStyle/>
          <a:p>
            <a:pPr marL="342900" lvl="0" indent="-342900">
              <a:buFont typeface="Symbol" panose="05050102010706020507" pitchFamily="18" charset="2"/>
              <a:buChar char=""/>
            </a:pPr>
            <a:r>
              <a:rPr lang="es-MX" dirty="0">
                <a:latin typeface="Garamond" panose="02020404030301010803" pitchFamily="18" charset="0"/>
                <a:cs typeface="Times New Roman" panose="02020603050405020304" pitchFamily="18" charset="0"/>
              </a:rPr>
              <a:t>Administrar los procesos de hospitalización, asegurando la continuidad, seguimiento y trazabilidad de los tratamientos de cada mascota ingresada.</a:t>
            </a:r>
            <a:endParaRPr lang="es-419" dirty="0">
              <a:latin typeface="Garamond" panose="02020404030301010803" pitchFamily="18" charset="0"/>
              <a:cs typeface="Times New Roman" panose="02020603050405020304" pitchFamily="18" charset="0"/>
            </a:endParaRPr>
          </a:p>
        </p:txBody>
      </p:sp>
      <p:sp>
        <p:nvSpPr>
          <p:cNvPr id="14" name="CuadroTexto 13">
            <a:extLst>
              <a:ext uri="{FF2B5EF4-FFF2-40B4-BE49-F238E27FC236}">
                <a16:creationId xmlns:a16="http://schemas.microsoft.com/office/drawing/2014/main" id="{5BDB8F77-BAB8-4EB6-A901-E79CFBDC31C1}"/>
              </a:ext>
            </a:extLst>
          </p:cNvPr>
          <p:cNvSpPr txBox="1"/>
          <p:nvPr/>
        </p:nvSpPr>
        <p:spPr>
          <a:xfrm>
            <a:off x="239519" y="4513323"/>
            <a:ext cx="6094602" cy="1200329"/>
          </a:xfrm>
          <a:prstGeom prst="rect">
            <a:avLst/>
          </a:prstGeom>
          <a:noFill/>
        </p:spPr>
        <p:txBody>
          <a:bodyPr wrap="square">
            <a:spAutoFit/>
          </a:bodyPr>
          <a:lstStyle/>
          <a:p>
            <a:pPr marL="285750" indent="-285750">
              <a:buFont typeface="Arial" panose="020B0604020202020204" pitchFamily="34" charset="0"/>
              <a:buChar char="•"/>
              <a:defRPr/>
            </a:pPr>
            <a:r>
              <a:rPr lang="es-MX" dirty="0">
                <a:latin typeface="Garamond" panose="02020404030301010803" pitchFamily="18" charset="0"/>
                <a:cs typeface="Times New Roman" panose="02020603050405020304" pitchFamily="18" charset="0"/>
              </a:rPr>
              <a:t>Gestionar el control del inventario de medicamentos, garantizando su disponibilidad, reduciendo el riesgo de caducidad y asegurando una correcta dispensación a las mascotas.</a:t>
            </a:r>
            <a:endParaRPr lang="es-419" dirty="0">
              <a:latin typeface="Garamond" panose="02020404030301010803" pitchFamily="18" charset="0"/>
              <a:cs typeface="Times New Roman" panose="02020603050405020304" pitchFamily="18" charset="0"/>
            </a:endParaRPr>
          </a:p>
        </p:txBody>
      </p:sp>
      <p:pic>
        <p:nvPicPr>
          <p:cNvPr id="11268" name="Picture 4" descr="diseã±o servicios GIF by sanderick">
            <a:extLst>
              <a:ext uri="{FF2B5EF4-FFF2-40B4-BE49-F238E27FC236}">
                <a16:creationId xmlns:a16="http://schemas.microsoft.com/office/drawing/2014/main" id="{A87ECDEF-1955-4332-8875-369BC118B9EF}"/>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737324" y="4226703"/>
            <a:ext cx="1756270" cy="1486949"/>
          </a:xfrm>
          <a:prstGeom prst="rect">
            <a:avLst/>
          </a:prstGeom>
          <a:noFill/>
          <a:extLst>
            <a:ext uri="{909E8E84-426E-40DD-AFC4-6F175D3DCCD1}">
              <a14:hiddenFill xmlns:a14="http://schemas.microsoft.com/office/drawing/2010/main">
                <a:solidFill>
                  <a:srgbClr val="FFFFFF"/>
                </a:solidFill>
              </a14:hiddenFill>
            </a:ext>
          </a:extLst>
        </p:spPr>
      </p:pic>
      <p:pic>
        <p:nvPicPr>
          <p:cNvPr id="11282" name="Picture 18" descr="Hungry Penguin GIF by Pudgy Penguins">
            <a:extLst>
              <a:ext uri="{FF2B5EF4-FFF2-40B4-BE49-F238E27FC236}">
                <a16:creationId xmlns:a16="http://schemas.microsoft.com/office/drawing/2014/main" id="{2AA7DBE7-B2F9-4105-9197-4D24C00B4703}"/>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4083136" y="2855162"/>
            <a:ext cx="1371541" cy="1371541"/>
          </a:xfrm>
          <a:prstGeom prst="rect">
            <a:avLst/>
          </a:prstGeom>
          <a:noFill/>
          <a:extLst>
            <a:ext uri="{909E8E84-426E-40DD-AFC4-6F175D3DCCD1}">
              <a14:hiddenFill xmlns:a14="http://schemas.microsoft.com/office/drawing/2010/main">
                <a:solidFill>
                  <a:srgbClr val="FFFFFF"/>
                </a:solidFill>
              </a14:hiddenFill>
            </a:ext>
          </a:extLst>
        </p:spPr>
      </p:pic>
      <p:sp>
        <p:nvSpPr>
          <p:cNvPr id="24" name="CuadroTexto 23">
            <a:extLst>
              <a:ext uri="{FF2B5EF4-FFF2-40B4-BE49-F238E27FC236}">
                <a16:creationId xmlns:a16="http://schemas.microsoft.com/office/drawing/2014/main" id="{490356B1-0E9B-4025-B561-BC987E9F48CD}"/>
              </a:ext>
            </a:extLst>
          </p:cNvPr>
          <p:cNvSpPr txBox="1"/>
          <p:nvPr/>
        </p:nvSpPr>
        <p:spPr>
          <a:xfrm>
            <a:off x="2667216" y="437279"/>
            <a:ext cx="6094602" cy="553998"/>
          </a:xfrm>
          <a:prstGeom prst="rect">
            <a:avLst/>
          </a:prstGeom>
          <a:noFill/>
        </p:spPr>
        <p:txBody>
          <a:bodyPr wrap="square">
            <a:spAutoFit/>
          </a:bodyPr>
          <a:lstStyle/>
          <a:p>
            <a:pPr algn="ctr">
              <a:defRPr/>
            </a:pPr>
            <a:r>
              <a:rPr lang="es-419" sz="3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OBJETIVOS ESPECIFICOS</a:t>
            </a:r>
            <a:endParaRPr kumimoji="0" lang="es-CO" sz="3000" b="1" u="none" strike="noStrike" kern="1200" cap="none" spc="0" normalizeH="0" baseline="0" noProof="0" dirty="0">
              <a:ln>
                <a:noFill/>
              </a:ln>
              <a:solidFill>
                <a:schemeClr val="bg1"/>
              </a:solidFill>
              <a:effectLst/>
              <a:uLnTx/>
              <a:uFillTx/>
              <a:latin typeface="WORK SANS BOLD ROMAN" pitchFamily="2" charset="77"/>
            </a:endParaRPr>
          </a:p>
        </p:txBody>
      </p:sp>
      <p:cxnSp>
        <p:nvCxnSpPr>
          <p:cNvPr id="2" name="Conector recto 1">
            <a:extLst>
              <a:ext uri="{FF2B5EF4-FFF2-40B4-BE49-F238E27FC236}">
                <a16:creationId xmlns:a16="http://schemas.microsoft.com/office/drawing/2014/main" id="{FB783EEE-7B12-E285-B566-999262ACACC9}"/>
              </a:ext>
            </a:extLst>
          </p:cNvPr>
          <p:cNvCxnSpPr>
            <a:cxnSpLocks/>
          </p:cNvCxnSpPr>
          <p:nvPr/>
        </p:nvCxnSpPr>
        <p:spPr>
          <a:xfrm>
            <a:off x="4187432" y="1096740"/>
            <a:ext cx="3173482"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0020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6C31FC2-6C63-0CB9-C78D-1723D5E9DD66}"/>
              </a:ext>
            </a:extLst>
          </p:cNvPr>
          <p:cNvSpPr txBox="1"/>
          <p:nvPr/>
        </p:nvSpPr>
        <p:spPr>
          <a:xfrm>
            <a:off x="516098" y="1789066"/>
            <a:ext cx="7607485" cy="4093428"/>
          </a:xfrm>
          <a:prstGeom prst="rect">
            <a:avLst/>
          </a:prstGeom>
          <a:noFill/>
        </p:spPr>
        <p:txBody>
          <a:bodyPr wrap="square" rtlCol="0">
            <a:spAutoFit/>
          </a:bodyPr>
          <a:lstStyle/>
          <a:p>
            <a:pPr algn="ctr"/>
            <a:r>
              <a:rPr lang="es-MX" sz="2000" dirty="0">
                <a:latin typeface="Garamond" panose="02020404030301010803" pitchFamily="18" charset="0"/>
                <a:cs typeface="Times New Roman" panose="02020603050405020304" pitchFamily="18" charset="0"/>
              </a:rPr>
              <a:t>El proyecto consiste en desarrollar e implementar, en un periodo de 21 meses, un Sistema de Información para la clínica veterinaria Zoolomascotas MX, con el propósito de digitalizar y organizar la gestión de mascotas, propietarios, citas, historiales clínicos, hospitalización, tratamientos, inventario de medicamentos y ventas, resolviendo así las ineficiencias operativas identificadas.</a:t>
            </a:r>
          </a:p>
          <a:p>
            <a:pPr algn="ctr"/>
            <a:endParaRPr lang="es-MX" sz="2000" dirty="0">
              <a:latin typeface="Garamond" panose="02020404030301010803" pitchFamily="18" charset="0"/>
              <a:cs typeface="Times New Roman" panose="02020603050405020304" pitchFamily="18" charset="0"/>
            </a:endParaRPr>
          </a:p>
          <a:p>
            <a:pPr algn="ctr"/>
            <a:r>
              <a:rPr lang="es-MX" sz="2000" dirty="0">
                <a:latin typeface="Garamond" panose="02020404030301010803" pitchFamily="18" charset="0"/>
                <a:cs typeface="Times New Roman" panose="02020603050405020304" pitchFamily="18" charset="0"/>
              </a:rPr>
              <a:t>El sistema incluirá funcionalidades como registros digitales, módulo de Punto de Venta (POS), alertas automáticas y generación de reportes para apoyar los procesos clínicos y administrativos internos. Este alcance no contempla módulos de contabilidad financiera externa, nómina de personal, centrándose exclusivamente en las actividades de atención al cliente, manejo clínico y operaciones internas de la veterinaria.</a:t>
            </a:r>
          </a:p>
        </p:txBody>
      </p:sp>
      <p:sp>
        <p:nvSpPr>
          <p:cNvPr id="6" name="CuadroTexto 5">
            <a:extLst>
              <a:ext uri="{FF2B5EF4-FFF2-40B4-BE49-F238E27FC236}">
                <a16:creationId xmlns:a16="http://schemas.microsoft.com/office/drawing/2014/main" id="{B39AA8D7-F4EB-4B94-AE35-5969023F9B8D}"/>
              </a:ext>
            </a:extLst>
          </p:cNvPr>
          <p:cNvSpPr txBox="1"/>
          <p:nvPr/>
        </p:nvSpPr>
        <p:spPr>
          <a:xfrm>
            <a:off x="1201724" y="447036"/>
            <a:ext cx="6094602" cy="553998"/>
          </a:xfrm>
          <a:prstGeom prst="rect">
            <a:avLst/>
          </a:prstGeom>
          <a:noFill/>
        </p:spPr>
        <p:txBody>
          <a:bodyPr wrap="square">
            <a:spAutoFit/>
          </a:bodyPr>
          <a:lstStyle/>
          <a:p>
            <a:pPr algn="ctr">
              <a:defRPr/>
            </a:pPr>
            <a:r>
              <a:rPr kumimoji="0" lang="es-419" sz="3000" b="1" u="none" strike="noStrike" kern="1200" cap="none" spc="0" normalizeH="0" baseline="0" noProof="0" dirty="0">
                <a:ln>
                  <a:noFill/>
                </a:ln>
                <a:solidFill>
                  <a:srgbClr val="4D4D4C"/>
                </a:solidFill>
                <a:effectLst>
                  <a:outerShdw blurRad="38100" dist="38100" dir="2700000" algn="tl">
                    <a:srgbClr val="000000">
                      <a:alpha val="43137"/>
                    </a:srgbClr>
                  </a:outerShdw>
                </a:effectLst>
                <a:uLnTx/>
                <a:uFillTx/>
                <a:latin typeface="Times New Roman" panose="02020603050405020304" pitchFamily="18" charset="0"/>
                <a:cs typeface="Times New Roman" panose="02020603050405020304" pitchFamily="18" charset="0"/>
              </a:rPr>
              <a:t>DELIMITACIÓN Y ALCANCE</a:t>
            </a:r>
            <a:endParaRPr kumimoji="0" lang="es-CO" sz="3000" b="1" u="none" strike="noStrike" kern="1200" cap="none" spc="0" normalizeH="0" baseline="0" noProof="0" dirty="0">
              <a:ln>
                <a:noFill/>
              </a:ln>
              <a:solidFill>
                <a:schemeClr val="bg1"/>
              </a:solidFill>
              <a:effectLst/>
              <a:uLnTx/>
              <a:uFillTx/>
              <a:latin typeface="WORK SANS BOLD ROMAN" pitchFamily="2" charset="77"/>
            </a:endParaRPr>
          </a:p>
        </p:txBody>
      </p:sp>
      <p:cxnSp>
        <p:nvCxnSpPr>
          <p:cNvPr id="8" name="Conector recto 7">
            <a:extLst>
              <a:ext uri="{FF2B5EF4-FFF2-40B4-BE49-F238E27FC236}">
                <a16:creationId xmlns:a16="http://schemas.microsoft.com/office/drawing/2014/main" id="{B3D521E5-1AA7-46FB-887E-220E2CBBC43C}"/>
              </a:ext>
            </a:extLst>
          </p:cNvPr>
          <p:cNvCxnSpPr>
            <a:cxnSpLocks/>
          </p:cNvCxnSpPr>
          <p:nvPr/>
        </p:nvCxnSpPr>
        <p:spPr>
          <a:xfrm>
            <a:off x="516098" y="1138806"/>
            <a:ext cx="770511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pic>
        <p:nvPicPr>
          <p:cNvPr id="1026" name="Picture 2" descr="Stickers de Veterinario - Stickers de animales gratis">
            <a:extLst>
              <a:ext uri="{FF2B5EF4-FFF2-40B4-BE49-F238E27FC236}">
                <a16:creationId xmlns:a16="http://schemas.microsoft.com/office/drawing/2014/main" id="{8925B7EF-E423-4390-E611-72783D4FF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1551" y="2116490"/>
            <a:ext cx="3130804" cy="3130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6550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79672" y="2826522"/>
            <a:ext cx="12032655" cy="861774"/>
          </a:xfrm>
          <a:prstGeom prst="rect">
            <a:avLst/>
          </a:prstGeom>
          <a:noFill/>
        </p:spPr>
        <p:txBody>
          <a:bodyPr wrap="square" rtlCol="0">
            <a:spAutoFit/>
          </a:bodyPr>
          <a:lstStyle/>
          <a:p>
            <a:pPr algn="ctr">
              <a:defRPr/>
            </a:pPr>
            <a:r>
              <a:rPr lang="es-419" sz="5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DIAGRAMA DE PROCESOS</a:t>
            </a:r>
            <a:endParaRPr kumimoji="0" lang="es-CO" sz="7200" b="1" u="none" strike="noStrike" kern="1200" cap="none" spc="0" normalizeH="0" baseline="0" noProof="0" dirty="0">
              <a:ln>
                <a:noFill/>
              </a:ln>
              <a:solidFill>
                <a:schemeClr val="bg1"/>
              </a:solidFill>
              <a:effectLst/>
              <a:uLnTx/>
              <a:uFillTx/>
              <a:latin typeface="WORK SANS BOLD ROMAN" pitchFamily="2" charset="77"/>
            </a:endParaRPr>
          </a:p>
        </p:txBody>
      </p:sp>
      <p:cxnSp>
        <p:nvCxnSpPr>
          <p:cNvPr id="4" name="Conector recto 3">
            <a:extLst>
              <a:ext uri="{FF2B5EF4-FFF2-40B4-BE49-F238E27FC236}">
                <a16:creationId xmlns:a16="http://schemas.microsoft.com/office/drawing/2014/main" id="{69BE6298-DD8D-40E0-824C-CA8F2232A868}"/>
              </a:ext>
            </a:extLst>
          </p:cNvPr>
          <p:cNvCxnSpPr>
            <a:cxnSpLocks/>
          </p:cNvCxnSpPr>
          <p:nvPr/>
        </p:nvCxnSpPr>
        <p:spPr>
          <a:xfrm>
            <a:off x="1034451" y="3949416"/>
            <a:ext cx="1053396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4098" name="Picture 2" descr="molecules GIF by David Pohl">
            <a:extLst>
              <a:ext uri="{FF2B5EF4-FFF2-40B4-BE49-F238E27FC236}">
                <a16:creationId xmlns:a16="http://schemas.microsoft.com/office/drawing/2014/main" id="{B480767E-109A-8567-6D97-F3D4A65AEA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1059" y="4210537"/>
            <a:ext cx="3829879" cy="2339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0861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16480" y="456446"/>
            <a:ext cx="9815809"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s-CO" sz="5000" b="1" dirty="0">
                <a:solidFill>
                  <a:srgbClr val="4D4D4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CLIENTE</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s-CO" sz="3600" b="1" u="none" strike="noStrike" kern="1200" cap="none" spc="0" normalizeH="0" baseline="0" noProof="0" dirty="0">
              <a:ln>
                <a:noFill/>
              </a:ln>
              <a:solidFill>
                <a:prstClr val="white"/>
              </a:solidFill>
              <a:effectLst/>
              <a:uLnTx/>
              <a:uFillTx/>
              <a:latin typeface="WORK SANS BOLD ROMAN" pitchFamily="2" charset="77"/>
            </a:endParaRPr>
          </a:p>
        </p:txBody>
      </p:sp>
      <p:pic>
        <p:nvPicPr>
          <p:cNvPr id="2" name="Picture 2" descr="Movie gif. A newly hatched baby Private from Penguins of Madagascar, still wearing the top of his eggshell on his head, gives us a friendly wave.">
            <a:extLst>
              <a:ext uri="{FF2B5EF4-FFF2-40B4-BE49-F238E27FC236}">
                <a16:creationId xmlns:a16="http://schemas.microsoft.com/office/drawing/2014/main" id="{9D43B556-ED48-2442-CB80-2144A32AB59E}"/>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9712208" y="2305228"/>
            <a:ext cx="2247544" cy="2247544"/>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002AEF4E-4870-32D7-3298-7FC326709865}"/>
              </a:ext>
            </a:extLst>
          </p:cNvPr>
          <p:cNvPicPr>
            <a:picLocks noChangeAspect="1"/>
          </p:cNvPicPr>
          <p:nvPr/>
        </p:nvPicPr>
        <p:blipFill rotWithShape="1">
          <a:blip r:embed="rId4"/>
          <a:srcRect t="1" r="58014" b="359"/>
          <a:stretch/>
        </p:blipFill>
        <p:spPr>
          <a:xfrm>
            <a:off x="416480" y="1789859"/>
            <a:ext cx="7840942" cy="4058976"/>
          </a:xfrm>
          <a:prstGeom prst="rect">
            <a:avLst/>
          </a:prstGeom>
        </p:spPr>
      </p:pic>
    </p:spTree>
    <p:extLst>
      <p:ext uri="{BB962C8B-B14F-4D97-AF65-F5344CB8AC3E}">
        <p14:creationId xmlns:p14="http://schemas.microsoft.com/office/powerpoint/2010/main" val="2269292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16480" y="456446"/>
            <a:ext cx="9815809"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s-CO" sz="5000" b="1" dirty="0">
                <a:solidFill>
                  <a:srgbClr val="4D4D4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RECEPCIONISTA</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s-CO" sz="3600" b="1" u="none" strike="noStrike" kern="1200" cap="none" spc="0" normalizeH="0" baseline="0" noProof="0" dirty="0">
              <a:ln>
                <a:noFill/>
              </a:ln>
              <a:solidFill>
                <a:prstClr val="white"/>
              </a:solidFill>
              <a:effectLst/>
              <a:uLnTx/>
              <a:uFillTx/>
              <a:latin typeface="WORK SANS BOLD ROMAN" pitchFamily="2" charset="77"/>
            </a:endParaRPr>
          </a:p>
        </p:txBody>
      </p:sp>
      <p:pic>
        <p:nvPicPr>
          <p:cNvPr id="2" name="Imagen 1">
            <a:extLst>
              <a:ext uri="{FF2B5EF4-FFF2-40B4-BE49-F238E27FC236}">
                <a16:creationId xmlns:a16="http://schemas.microsoft.com/office/drawing/2014/main" id="{EA9CF326-4E0E-BFB4-216E-A4434A57B143}"/>
              </a:ext>
            </a:extLst>
          </p:cNvPr>
          <p:cNvPicPr>
            <a:picLocks noChangeAspect="1"/>
          </p:cNvPicPr>
          <p:nvPr/>
        </p:nvPicPr>
        <p:blipFill>
          <a:blip r:embed="rId3"/>
          <a:stretch>
            <a:fillRect/>
          </a:stretch>
        </p:blipFill>
        <p:spPr>
          <a:xfrm>
            <a:off x="416480" y="1465297"/>
            <a:ext cx="11380797" cy="5283521"/>
          </a:xfrm>
          <a:prstGeom prst="rect">
            <a:avLst/>
          </a:prstGeom>
        </p:spPr>
      </p:pic>
    </p:spTree>
    <p:extLst>
      <p:ext uri="{BB962C8B-B14F-4D97-AF65-F5344CB8AC3E}">
        <p14:creationId xmlns:p14="http://schemas.microsoft.com/office/powerpoint/2010/main" val="1828199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16480" y="456446"/>
            <a:ext cx="9815809"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s-CO" sz="5000" b="1" dirty="0">
                <a:solidFill>
                  <a:srgbClr val="4D4D4C"/>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VETERINARIO</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s-CO" sz="3600" b="1" u="none" strike="noStrike" kern="1200" cap="none" spc="0" normalizeH="0" baseline="0" noProof="0" dirty="0">
              <a:ln>
                <a:noFill/>
              </a:ln>
              <a:solidFill>
                <a:prstClr val="white"/>
              </a:solidFill>
              <a:effectLst/>
              <a:uLnTx/>
              <a:uFillTx/>
              <a:latin typeface="WORK SANS BOLD ROMAN" pitchFamily="2" charset="77"/>
            </a:endParaRPr>
          </a:p>
        </p:txBody>
      </p:sp>
      <p:pic>
        <p:nvPicPr>
          <p:cNvPr id="4" name="Imagen 3">
            <a:extLst>
              <a:ext uri="{FF2B5EF4-FFF2-40B4-BE49-F238E27FC236}">
                <a16:creationId xmlns:a16="http://schemas.microsoft.com/office/drawing/2014/main" id="{167A6138-9DFC-B5C0-3F8A-2E9E16D1365A}"/>
              </a:ext>
            </a:extLst>
          </p:cNvPr>
          <p:cNvPicPr>
            <a:picLocks noChangeAspect="1"/>
          </p:cNvPicPr>
          <p:nvPr/>
        </p:nvPicPr>
        <p:blipFill>
          <a:blip r:embed="rId3"/>
          <a:stretch>
            <a:fillRect/>
          </a:stretch>
        </p:blipFill>
        <p:spPr>
          <a:xfrm>
            <a:off x="416480" y="1297806"/>
            <a:ext cx="6079854" cy="5525590"/>
          </a:xfrm>
          <a:prstGeom prst="rect">
            <a:avLst/>
          </a:prstGeom>
        </p:spPr>
      </p:pic>
      <p:pic>
        <p:nvPicPr>
          <p:cNvPr id="6152" name="Picture 8" descr="portrait vet dog spaniel on a gray background">
            <a:extLst>
              <a:ext uri="{FF2B5EF4-FFF2-40B4-BE49-F238E27FC236}">
                <a16:creationId xmlns:a16="http://schemas.microsoft.com/office/drawing/2014/main" id="{DF167A7E-DEAA-B58F-6CCB-EC97688F9A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6334" y="1407229"/>
            <a:ext cx="5458781" cy="404354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59905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79672" y="2826522"/>
            <a:ext cx="12032655" cy="861774"/>
          </a:xfrm>
          <a:prstGeom prst="rect">
            <a:avLst/>
          </a:prstGeom>
          <a:noFill/>
        </p:spPr>
        <p:txBody>
          <a:bodyPr wrap="square" rtlCol="0">
            <a:spAutoFit/>
          </a:bodyPr>
          <a:lstStyle/>
          <a:p>
            <a:pPr algn="ctr">
              <a:defRPr/>
            </a:pPr>
            <a:r>
              <a:rPr lang="es-419" sz="5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RECOLECCIÓN DE DATOS</a:t>
            </a:r>
          </a:p>
        </p:txBody>
      </p:sp>
      <p:cxnSp>
        <p:nvCxnSpPr>
          <p:cNvPr id="4" name="Conector recto 3">
            <a:extLst>
              <a:ext uri="{FF2B5EF4-FFF2-40B4-BE49-F238E27FC236}">
                <a16:creationId xmlns:a16="http://schemas.microsoft.com/office/drawing/2014/main" id="{FFC199E9-F47C-4946-B7E5-29EC55698F3E}"/>
              </a:ext>
            </a:extLst>
          </p:cNvPr>
          <p:cNvCxnSpPr>
            <a:cxnSpLocks/>
          </p:cNvCxnSpPr>
          <p:nvPr/>
        </p:nvCxnSpPr>
        <p:spPr>
          <a:xfrm>
            <a:off x="1093174" y="3999750"/>
            <a:ext cx="1053396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074" name="Picture 2" descr="Orange Archive Sticker by Kyocera">
            <a:extLst>
              <a:ext uri="{FF2B5EF4-FFF2-40B4-BE49-F238E27FC236}">
                <a16:creationId xmlns:a16="http://schemas.microsoft.com/office/drawing/2014/main" id="{DB6F5D97-077F-1D9A-D3AA-50F49E8604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4129" y="3429000"/>
            <a:ext cx="3743739" cy="3743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636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1FEF253-53C4-B5FA-07C7-0B039B14F52F}"/>
              </a:ext>
            </a:extLst>
          </p:cNvPr>
          <p:cNvSpPr txBox="1"/>
          <p:nvPr/>
        </p:nvSpPr>
        <p:spPr>
          <a:xfrm>
            <a:off x="605405" y="464024"/>
            <a:ext cx="10981189" cy="677108"/>
          </a:xfrm>
          <a:prstGeom prst="rect">
            <a:avLst/>
          </a:prstGeom>
          <a:noFill/>
        </p:spPr>
        <p:txBody>
          <a:bodyPr wrap="square" rtlCol="0">
            <a:spAutoFit/>
          </a:bodyPr>
          <a:lstStyle/>
          <a:p>
            <a:pPr algn="ctr">
              <a:defRPr/>
            </a:pPr>
            <a:r>
              <a:rPr lang="es-MX" sz="38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DATOS DE ENCUESTA</a:t>
            </a:r>
          </a:p>
        </p:txBody>
      </p:sp>
      <p:cxnSp>
        <p:nvCxnSpPr>
          <p:cNvPr id="3" name="Conector recto 2">
            <a:extLst>
              <a:ext uri="{FF2B5EF4-FFF2-40B4-BE49-F238E27FC236}">
                <a16:creationId xmlns:a16="http://schemas.microsoft.com/office/drawing/2014/main" id="{AE0C963B-97B4-4F66-1B49-0B47BC7F0F1A}"/>
              </a:ext>
            </a:extLst>
          </p:cNvPr>
          <p:cNvCxnSpPr>
            <a:cxnSpLocks/>
          </p:cNvCxnSpPr>
          <p:nvPr/>
        </p:nvCxnSpPr>
        <p:spPr>
          <a:xfrm>
            <a:off x="2561188" y="1261884"/>
            <a:ext cx="8067054"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pic>
        <p:nvPicPr>
          <p:cNvPr id="8" name="Imagen 7">
            <a:extLst>
              <a:ext uri="{FF2B5EF4-FFF2-40B4-BE49-F238E27FC236}">
                <a16:creationId xmlns:a16="http://schemas.microsoft.com/office/drawing/2014/main" id="{57C14CF5-AC66-A0D3-C517-31BD05CBF581}"/>
              </a:ext>
            </a:extLst>
          </p:cNvPr>
          <p:cNvPicPr>
            <a:picLocks noChangeAspect="1"/>
          </p:cNvPicPr>
          <p:nvPr/>
        </p:nvPicPr>
        <p:blipFill>
          <a:blip r:embed="rId3"/>
          <a:stretch>
            <a:fillRect/>
          </a:stretch>
        </p:blipFill>
        <p:spPr>
          <a:xfrm>
            <a:off x="6755084" y="2429468"/>
            <a:ext cx="4954271" cy="3166648"/>
          </a:xfrm>
          <a:prstGeom prst="rect">
            <a:avLst/>
          </a:prstGeom>
        </p:spPr>
      </p:pic>
      <p:pic>
        <p:nvPicPr>
          <p:cNvPr id="8194" name="Picture 2" descr="Point Highlight Sticker by CLASS101">
            <a:extLst>
              <a:ext uri="{FF2B5EF4-FFF2-40B4-BE49-F238E27FC236}">
                <a16:creationId xmlns:a16="http://schemas.microsoft.com/office/drawing/2014/main" id="{26532827-8078-6C69-F4A7-F0D042A785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405" y="1141132"/>
            <a:ext cx="4352925"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036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1FEF253-53C4-B5FA-07C7-0B039B14F52F}"/>
              </a:ext>
            </a:extLst>
          </p:cNvPr>
          <p:cNvSpPr txBox="1"/>
          <p:nvPr/>
        </p:nvSpPr>
        <p:spPr>
          <a:xfrm>
            <a:off x="1199321" y="376056"/>
            <a:ext cx="9793357" cy="1261884"/>
          </a:xfrm>
          <a:prstGeom prst="rect">
            <a:avLst/>
          </a:prstGeom>
          <a:noFill/>
        </p:spPr>
        <p:txBody>
          <a:bodyPr wrap="square" rtlCol="0">
            <a:spAutoFit/>
          </a:bodyPr>
          <a:lstStyle/>
          <a:p>
            <a:pPr algn="ctr">
              <a:defRPr/>
            </a:pPr>
            <a:r>
              <a:rPr lang="es-MX" sz="38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¿Cómo agendas actualmente tus citas en la veterinaria? </a:t>
            </a:r>
          </a:p>
        </p:txBody>
      </p:sp>
      <p:cxnSp>
        <p:nvCxnSpPr>
          <p:cNvPr id="3" name="Conector recto 2">
            <a:extLst>
              <a:ext uri="{FF2B5EF4-FFF2-40B4-BE49-F238E27FC236}">
                <a16:creationId xmlns:a16="http://schemas.microsoft.com/office/drawing/2014/main" id="{AE0C963B-97B4-4F66-1B49-0B47BC7F0F1A}"/>
              </a:ext>
            </a:extLst>
          </p:cNvPr>
          <p:cNvCxnSpPr>
            <a:cxnSpLocks/>
          </p:cNvCxnSpPr>
          <p:nvPr/>
        </p:nvCxnSpPr>
        <p:spPr>
          <a:xfrm>
            <a:off x="2301011" y="1637940"/>
            <a:ext cx="7589976"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graphicFrame>
        <p:nvGraphicFramePr>
          <p:cNvPr id="8" name="Gráfico 7">
            <a:extLst>
              <a:ext uri="{FF2B5EF4-FFF2-40B4-BE49-F238E27FC236}">
                <a16:creationId xmlns:a16="http://schemas.microsoft.com/office/drawing/2014/main" id="{881E1DB9-9614-667F-3BB6-76E9DEBDF87A}"/>
              </a:ext>
            </a:extLst>
          </p:cNvPr>
          <p:cNvGraphicFramePr>
            <a:graphicFrameLocks/>
          </p:cNvGraphicFramePr>
          <p:nvPr>
            <p:extLst>
              <p:ext uri="{D42A27DB-BD31-4B8C-83A1-F6EECF244321}">
                <p14:modId xmlns:p14="http://schemas.microsoft.com/office/powerpoint/2010/main" val="993401448"/>
              </p:ext>
            </p:extLst>
          </p:nvPr>
        </p:nvGraphicFramePr>
        <p:xfrm>
          <a:off x="2378764" y="2057399"/>
          <a:ext cx="7734227" cy="4424545"/>
        </p:xfrm>
        <a:graphic>
          <a:graphicData uri="http://schemas.openxmlformats.org/drawingml/2006/chart">
            <c:chart xmlns:c="http://schemas.openxmlformats.org/drawingml/2006/chart" xmlns:r="http://schemas.openxmlformats.org/officeDocument/2006/relationships" r:id="rId3"/>
          </a:graphicData>
        </a:graphic>
      </p:graphicFrame>
      <p:pic>
        <p:nvPicPr>
          <p:cNvPr id="1026" name="Picture 2" descr="Illustration Love GIF by The Creamlovers">
            <a:extLst>
              <a:ext uri="{FF2B5EF4-FFF2-40B4-BE49-F238E27FC236}">
                <a16:creationId xmlns:a16="http://schemas.microsoft.com/office/drawing/2014/main" id="{8A4E5675-826A-C9D4-D284-A2135EF4D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860" y="4576944"/>
            <a:ext cx="2543175"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7679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1FEF253-53C4-B5FA-07C7-0B039B14F52F}"/>
              </a:ext>
            </a:extLst>
          </p:cNvPr>
          <p:cNvSpPr txBox="1"/>
          <p:nvPr/>
        </p:nvSpPr>
        <p:spPr>
          <a:xfrm>
            <a:off x="605405" y="152815"/>
            <a:ext cx="10804718" cy="1261884"/>
          </a:xfrm>
          <a:prstGeom prst="rect">
            <a:avLst/>
          </a:prstGeom>
          <a:noFill/>
        </p:spPr>
        <p:txBody>
          <a:bodyPr wrap="square" rtlCol="0">
            <a:spAutoFit/>
          </a:bodyPr>
          <a:lstStyle/>
          <a:p>
            <a:pPr algn="ctr">
              <a:defRPr/>
            </a:pPr>
            <a:r>
              <a:rPr lang="es-MX" sz="38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¿Cuales son los servicios que más utilizas en la veterinaria?</a:t>
            </a:r>
          </a:p>
        </p:txBody>
      </p:sp>
      <p:cxnSp>
        <p:nvCxnSpPr>
          <p:cNvPr id="3" name="Conector recto 2">
            <a:extLst>
              <a:ext uri="{FF2B5EF4-FFF2-40B4-BE49-F238E27FC236}">
                <a16:creationId xmlns:a16="http://schemas.microsoft.com/office/drawing/2014/main" id="{AE0C963B-97B4-4F66-1B49-0B47BC7F0F1A}"/>
              </a:ext>
            </a:extLst>
          </p:cNvPr>
          <p:cNvCxnSpPr>
            <a:cxnSpLocks/>
          </p:cNvCxnSpPr>
          <p:nvPr/>
        </p:nvCxnSpPr>
        <p:spPr>
          <a:xfrm>
            <a:off x="2388910" y="1293334"/>
            <a:ext cx="786827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graphicFrame>
        <p:nvGraphicFramePr>
          <p:cNvPr id="4" name="Gráfico 3">
            <a:extLst>
              <a:ext uri="{FF2B5EF4-FFF2-40B4-BE49-F238E27FC236}">
                <a16:creationId xmlns:a16="http://schemas.microsoft.com/office/drawing/2014/main" id="{1C3880B0-EC62-AE92-674A-4025134A4E3C}"/>
              </a:ext>
            </a:extLst>
          </p:cNvPr>
          <p:cNvGraphicFramePr>
            <a:graphicFrameLocks/>
          </p:cNvGraphicFramePr>
          <p:nvPr>
            <p:extLst>
              <p:ext uri="{D42A27DB-BD31-4B8C-83A1-F6EECF244321}">
                <p14:modId xmlns:p14="http://schemas.microsoft.com/office/powerpoint/2010/main" val="1212278263"/>
              </p:ext>
            </p:extLst>
          </p:nvPr>
        </p:nvGraphicFramePr>
        <p:xfrm>
          <a:off x="1630017" y="1544585"/>
          <a:ext cx="8987941" cy="5160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48170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1FEF253-53C4-B5FA-07C7-0B039B14F52F}"/>
              </a:ext>
            </a:extLst>
          </p:cNvPr>
          <p:cNvSpPr txBox="1"/>
          <p:nvPr/>
        </p:nvSpPr>
        <p:spPr>
          <a:xfrm>
            <a:off x="605402" y="-56324"/>
            <a:ext cx="10981189" cy="1261884"/>
          </a:xfrm>
          <a:prstGeom prst="rect">
            <a:avLst/>
          </a:prstGeom>
          <a:noFill/>
        </p:spPr>
        <p:txBody>
          <a:bodyPr wrap="square" rtlCol="0">
            <a:spAutoFit/>
          </a:bodyPr>
          <a:lstStyle/>
          <a:p>
            <a:pPr algn="ctr">
              <a:defRPr/>
            </a:pPr>
            <a:r>
              <a:rPr lang="es-MX" sz="38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 gustaría poder comprar productos en línea y recibirlos en tu domicilio? </a:t>
            </a:r>
            <a:endParaRPr lang="es-MX" sz="6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 name="Conector recto 2">
            <a:extLst>
              <a:ext uri="{FF2B5EF4-FFF2-40B4-BE49-F238E27FC236}">
                <a16:creationId xmlns:a16="http://schemas.microsoft.com/office/drawing/2014/main" id="{AE0C963B-97B4-4F66-1B49-0B47BC7F0F1A}"/>
              </a:ext>
            </a:extLst>
          </p:cNvPr>
          <p:cNvCxnSpPr>
            <a:cxnSpLocks/>
          </p:cNvCxnSpPr>
          <p:nvPr/>
        </p:nvCxnSpPr>
        <p:spPr>
          <a:xfrm>
            <a:off x="1991345" y="1121056"/>
            <a:ext cx="8332098"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graphicFrame>
        <p:nvGraphicFramePr>
          <p:cNvPr id="5" name="Gráfico 4">
            <a:extLst>
              <a:ext uri="{FF2B5EF4-FFF2-40B4-BE49-F238E27FC236}">
                <a16:creationId xmlns:a16="http://schemas.microsoft.com/office/drawing/2014/main" id="{5491E5EC-A601-FC61-7659-264AD4570558}"/>
              </a:ext>
            </a:extLst>
          </p:cNvPr>
          <p:cNvGraphicFramePr>
            <a:graphicFrameLocks/>
          </p:cNvGraphicFramePr>
          <p:nvPr>
            <p:extLst>
              <p:ext uri="{D42A27DB-BD31-4B8C-83A1-F6EECF244321}">
                <p14:modId xmlns:p14="http://schemas.microsoft.com/office/powerpoint/2010/main" val="3332408374"/>
              </p:ext>
            </p:extLst>
          </p:nvPr>
        </p:nvGraphicFramePr>
        <p:xfrm>
          <a:off x="2265529" y="1364776"/>
          <a:ext cx="5971576" cy="5128787"/>
        </p:xfrm>
        <a:graphic>
          <a:graphicData uri="http://schemas.openxmlformats.org/drawingml/2006/chart">
            <c:chart xmlns:c="http://schemas.openxmlformats.org/drawingml/2006/chart" xmlns:r="http://schemas.openxmlformats.org/officeDocument/2006/relationships" r:id="rId3"/>
          </a:graphicData>
        </a:graphic>
      </p:graphicFrame>
      <p:pic>
        <p:nvPicPr>
          <p:cNvPr id="1028" name="Picture 4" descr="FlotteKarotte delivery bochum biolebensmittel wattenscheid GIF">
            <a:extLst>
              <a:ext uri="{FF2B5EF4-FFF2-40B4-BE49-F238E27FC236}">
                <a16:creationId xmlns:a16="http://schemas.microsoft.com/office/drawing/2014/main" id="{6C6B7003-ED88-2EFA-DBD1-05859CA7E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2946" y="1164944"/>
            <a:ext cx="3672098" cy="3672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2007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1FEF253-53C4-B5FA-07C7-0B039B14F52F}"/>
              </a:ext>
            </a:extLst>
          </p:cNvPr>
          <p:cNvSpPr txBox="1"/>
          <p:nvPr/>
        </p:nvSpPr>
        <p:spPr>
          <a:xfrm>
            <a:off x="605404" y="0"/>
            <a:ext cx="10981189" cy="1261884"/>
          </a:xfrm>
          <a:prstGeom prst="rect">
            <a:avLst/>
          </a:prstGeom>
          <a:noFill/>
        </p:spPr>
        <p:txBody>
          <a:bodyPr wrap="square" rtlCol="0">
            <a:spAutoFit/>
          </a:bodyPr>
          <a:lstStyle/>
          <a:p>
            <a:pPr algn="ctr">
              <a:defRPr/>
            </a:pPr>
            <a:r>
              <a:rPr lang="es-MX" sz="38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¿Qué tan útil sería poder realizar teleconcultas a tu mascota?</a:t>
            </a:r>
            <a:endParaRPr lang="es-MX" sz="6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 name="Conector recto 2">
            <a:extLst>
              <a:ext uri="{FF2B5EF4-FFF2-40B4-BE49-F238E27FC236}">
                <a16:creationId xmlns:a16="http://schemas.microsoft.com/office/drawing/2014/main" id="{AE0C963B-97B4-4F66-1B49-0B47BC7F0F1A}"/>
              </a:ext>
            </a:extLst>
          </p:cNvPr>
          <p:cNvCxnSpPr>
            <a:cxnSpLocks/>
          </p:cNvCxnSpPr>
          <p:nvPr/>
        </p:nvCxnSpPr>
        <p:spPr>
          <a:xfrm>
            <a:off x="2561188" y="1261884"/>
            <a:ext cx="8067054"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cx1="http://schemas.microsoft.com/office/drawing/2015/9/8/chartex">
        <mc:Choice Requires="cx1">
          <p:graphicFrame>
            <p:nvGraphicFramePr>
              <p:cNvPr id="6" name="Gráfico 5">
                <a:extLst>
                  <a:ext uri="{FF2B5EF4-FFF2-40B4-BE49-F238E27FC236}">
                    <a16:creationId xmlns:a16="http://schemas.microsoft.com/office/drawing/2014/main" id="{9012051A-2A1A-2780-60AC-A1B6C967EAC2}"/>
                  </a:ext>
                </a:extLst>
              </p:cNvPr>
              <p:cNvGraphicFramePr/>
              <p:nvPr>
                <p:extLst>
                  <p:ext uri="{D42A27DB-BD31-4B8C-83A1-F6EECF244321}">
                    <p14:modId xmlns:p14="http://schemas.microsoft.com/office/powerpoint/2010/main" val="2561066131"/>
                  </p:ext>
                </p:extLst>
              </p:nvPr>
            </p:nvGraphicFramePr>
            <p:xfrm>
              <a:off x="2718455" y="1411360"/>
              <a:ext cx="7752521" cy="544664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6" name="Gráfico 5">
                <a:extLst>
                  <a:ext uri="{FF2B5EF4-FFF2-40B4-BE49-F238E27FC236}">
                    <a16:creationId xmlns:a16="http://schemas.microsoft.com/office/drawing/2014/main" id="{9012051A-2A1A-2780-60AC-A1B6C967EAC2}"/>
                  </a:ext>
                </a:extLst>
              </p:cNvPr>
              <p:cNvPicPr>
                <a:picLocks noGrp="1" noRot="1" noChangeAspect="1" noMove="1" noResize="1" noEditPoints="1" noAdjustHandles="1" noChangeArrowheads="1" noChangeShapeType="1"/>
              </p:cNvPicPr>
              <p:nvPr/>
            </p:nvPicPr>
            <p:blipFill>
              <a:blip r:embed="rId4"/>
              <a:stretch>
                <a:fillRect/>
              </a:stretch>
            </p:blipFill>
            <p:spPr>
              <a:xfrm>
                <a:off x="2718455" y="1411360"/>
                <a:ext cx="7752521" cy="5446640"/>
              </a:xfrm>
              <a:prstGeom prst="rect">
                <a:avLst/>
              </a:prstGeom>
            </p:spPr>
          </p:pic>
        </mc:Fallback>
      </mc:AlternateContent>
    </p:spTree>
    <p:extLst>
      <p:ext uri="{BB962C8B-B14F-4D97-AF65-F5344CB8AC3E}">
        <p14:creationId xmlns:p14="http://schemas.microsoft.com/office/powerpoint/2010/main" val="1223749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79671" y="1996476"/>
            <a:ext cx="12032655" cy="861774"/>
          </a:xfrm>
          <a:prstGeom prst="rect">
            <a:avLst/>
          </a:prstGeom>
          <a:noFill/>
        </p:spPr>
        <p:txBody>
          <a:bodyPr wrap="square" rtlCol="0">
            <a:spAutoFit/>
          </a:bodyPr>
          <a:lstStyle/>
          <a:p>
            <a:pPr algn="ctr">
              <a:defRPr/>
            </a:pPr>
            <a:r>
              <a:rPr lang="es-419" sz="5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MODULOS DEL GESTIÓN</a:t>
            </a:r>
            <a:endParaRPr kumimoji="0" lang="es-CO" sz="7200" b="1" u="none" strike="noStrike" kern="1200" cap="none" spc="0" normalizeH="0" baseline="0" noProof="0" dirty="0">
              <a:ln>
                <a:noFill/>
              </a:ln>
              <a:solidFill>
                <a:schemeClr val="bg1"/>
              </a:solidFill>
              <a:effectLst/>
              <a:uLnTx/>
              <a:uFillTx/>
              <a:latin typeface="WORK SANS BOLD ROMAN" pitchFamily="2" charset="77"/>
            </a:endParaRPr>
          </a:p>
        </p:txBody>
      </p:sp>
      <p:cxnSp>
        <p:nvCxnSpPr>
          <p:cNvPr id="4" name="Conector recto 3">
            <a:extLst>
              <a:ext uri="{FF2B5EF4-FFF2-40B4-BE49-F238E27FC236}">
                <a16:creationId xmlns:a16="http://schemas.microsoft.com/office/drawing/2014/main" id="{FFC199E9-F47C-4946-B7E5-29EC55698F3E}"/>
              </a:ext>
            </a:extLst>
          </p:cNvPr>
          <p:cNvCxnSpPr>
            <a:cxnSpLocks/>
          </p:cNvCxnSpPr>
          <p:nvPr/>
        </p:nvCxnSpPr>
        <p:spPr>
          <a:xfrm>
            <a:off x="1064145" y="3219606"/>
            <a:ext cx="1053396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244" name="Picture 4" descr="Orange Virus Sticker by Kyocera">
            <a:extLst>
              <a:ext uri="{FF2B5EF4-FFF2-40B4-BE49-F238E27FC236}">
                <a16:creationId xmlns:a16="http://schemas.microsoft.com/office/drawing/2014/main" id="{075F0E56-D3FD-1202-61F8-BF959189FB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2942" y="3283856"/>
            <a:ext cx="3926115" cy="3926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3456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4EE94FD-879E-41BA-5B30-52E4FFE00666}"/>
              </a:ext>
            </a:extLst>
          </p:cNvPr>
          <p:cNvSpPr>
            <a:spLocks noChangeArrowheads="1"/>
          </p:cNvSpPr>
          <p:nvPr/>
        </p:nvSpPr>
        <p:spPr bwMode="auto">
          <a:xfrm>
            <a:off x="354842" y="1278020"/>
            <a:ext cx="6277971"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eaLnBrk="0" fontAlgn="base" hangingPunct="0">
              <a:lnSpc>
                <a:spcPct val="100000"/>
              </a:lnSpc>
              <a:spcBef>
                <a:spcPct val="0"/>
              </a:spcBef>
              <a:spcAft>
                <a:spcPct val="0"/>
              </a:spcAft>
              <a:buClrTx/>
              <a:buSzTx/>
              <a:buFont typeface="Arial" panose="020B0604020202020204" pitchFamily="34" charset="0"/>
              <a:buChar char="•"/>
              <a:tabLst/>
            </a:pPr>
            <a:r>
              <a:rPr lang="es-CO" altLang="es-CO" sz="2000" b="1" i="1" dirty="0">
                <a:latin typeface="Garamond" panose="02020404030301010803" pitchFamily="18" charset="0"/>
                <a:cs typeface="Times New Roman" panose="02020603050405020304" pitchFamily="18" charset="0"/>
              </a:rPr>
              <a:t>Gestión de Citas:</a:t>
            </a:r>
            <a:r>
              <a:rPr lang="es-CO" altLang="es-CO" sz="2000" dirty="0">
                <a:latin typeface="Garamond" panose="02020404030301010803" pitchFamily="18" charset="0"/>
                <a:cs typeface="Times New Roman" panose="02020603050405020304" pitchFamily="18" charset="0"/>
              </a:rPr>
              <a:t> Permite registrar, programar y consultar las citas de las mascotas, optimizando la organización y atención de los servicios veterinarios.</a:t>
            </a:r>
            <a:br>
              <a:rPr lang="es-CO" altLang="es-CO" sz="2000" dirty="0">
                <a:latin typeface="Garamond" panose="02020404030301010803" pitchFamily="18" charset="0"/>
                <a:cs typeface="Times New Roman" panose="02020603050405020304" pitchFamily="18" charset="0"/>
              </a:rPr>
            </a:br>
            <a:endParaRPr lang="es-CO" altLang="es-CO" sz="2000" dirty="0">
              <a:latin typeface="Garamond" panose="02020404030301010803" pitchFamily="18" charset="0"/>
              <a:cs typeface="Times New Roman" panose="02020603050405020304" pitchFamily="18" charset="0"/>
            </a:endParaRPr>
          </a:p>
          <a:p>
            <a:pPr marL="342900" indent="-342900" eaLnBrk="0" fontAlgn="base" hangingPunct="0">
              <a:spcBef>
                <a:spcPct val="0"/>
              </a:spcBef>
              <a:spcAft>
                <a:spcPct val="0"/>
              </a:spcAft>
              <a:buFont typeface="Arial" panose="020B0604020202020204" pitchFamily="34" charset="0"/>
              <a:buChar char="•"/>
            </a:pPr>
            <a:r>
              <a:rPr lang="es-CO" altLang="es-CO" sz="2000" b="1" i="1" dirty="0">
                <a:latin typeface="Garamond" panose="02020404030301010803" pitchFamily="18" charset="0"/>
                <a:cs typeface="Times New Roman" panose="02020603050405020304" pitchFamily="18" charset="0"/>
              </a:rPr>
              <a:t>Gestión de Ventas: </a:t>
            </a:r>
            <a:r>
              <a:rPr lang="es-CO" altLang="es-CO" sz="2000" dirty="0">
                <a:latin typeface="Garamond" panose="02020404030301010803" pitchFamily="18" charset="0"/>
                <a:cs typeface="Times New Roman" panose="02020603050405020304" pitchFamily="18" charset="0"/>
              </a:rPr>
              <a:t>Facilita el registro de ventas de productos y servicios, controlando las transacciones y actualizando automáticamente las existencias.</a:t>
            </a:r>
            <a:br>
              <a:rPr lang="es-CO" altLang="es-CO" sz="2000" dirty="0">
                <a:latin typeface="Garamond" panose="02020404030301010803" pitchFamily="18" charset="0"/>
                <a:cs typeface="Times New Roman" panose="02020603050405020304" pitchFamily="18" charset="0"/>
              </a:rPr>
            </a:br>
            <a:endParaRPr lang="es-CO" altLang="es-CO" sz="2000" dirty="0">
              <a:latin typeface="Garamond" panose="02020404030301010803" pitchFamily="18" charset="0"/>
              <a:cs typeface="Times New Roman" panose="02020603050405020304" pitchFamily="18" charset="0"/>
            </a:endParaRPr>
          </a:p>
          <a:p>
            <a:pPr marL="342900" indent="-342900" eaLnBrk="0" fontAlgn="base" hangingPunct="0">
              <a:spcBef>
                <a:spcPct val="0"/>
              </a:spcBef>
              <a:spcAft>
                <a:spcPct val="0"/>
              </a:spcAft>
              <a:buFont typeface="Arial" panose="020B0604020202020204" pitchFamily="34" charset="0"/>
              <a:buChar char="•"/>
            </a:pPr>
            <a:r>
              <a:rPr lang="es-CO" altLang="es-CO" sz="2000" b="1" i="1" dirty="0">
                <a:latin typeface="Garamond" panose="02020404030301010803" pitchFamily="18" charset="0"/>
                <a:cs typeface="Times New Roman" panose="02020603050405020304" pitchFamily="18" charset="0"/>
              </a:rPr>
              <a:t>Gestión de Inventario: </a:t>
            </a:r>
            <a:r>
              <a:rPr lang="es-CO" altLang="es-CO" sz="2000" dirty="0">
                <a:latin typeface="Garamond" panose="02020404030301010803" pitchFamily="18" charset="0"/>
                <a:cs typeface="Times New Roman" panose="02020603050405020304" pitchFamily="18" charset="0"/>
              </a:rPr>
              <a:t>Administra el control de medicamentos, accesorios e insumos, gestionando entradas, salidas, niveles de stock y fechas de vencimiento cuando aplique.</a:t>
            </a:r>
            <a:br>
              <a:rPr lang="es-CO" altLang="es-CO" sz="2000" dirty="0">
                <a:latin typeface="Garamond" panose="02020404030301010803" pitchFamily="18" charset="0"/>
                <a:cs typeface="Times New Roman" panose="02020603050405020304" pitchFamily="18" charset="0"/>
              </a:rPr>
            </a:br>
            <a:endParaRPr lang="es-CO" altLang="es-CO" sz="2000" dirty="0">
              <a:latin typeface="Garamond" panose="02020404030301010803" pitchFamily="18" charset="0"/>
              <a:cs typeface="Times New Roman" panose="02020603050405020304" pitchFamily="18" charset="0"/>
            </a:endParaRPr>
          </a:p>
          <a:p>
            <a:pPr marL="342900" marR="0" lvl="0" indent="-342900" eaLnBrk="0" fontAlgn="base" hangingPunct="0">
              <a:lnSpc>
                <a:spcPct val="100000"/>
              </a:lnSpc>
              <a:spcBef>
                <a:spcPct val="0"/>
              </a:spcBef>
              <a:spcAft>
                <a:spcPct val="0"/>
              </a:spcAft>
              <a:buClrTx/>
              <a:buSzTx/>
              <a:buFont typeface="Arial" panose="020B0604020202020204" pitchFamily="34" charset="0"/>
              <a:buChar char="•"/>
              <a:tabLst/>
            </a:pPr>
            <a:r>
              <a:rPr lang="es-CO" altLang="es-CO" sz="2000" b="1" i="1" dirty="0">
                <a:latin typeface="Garamond" panose="02020404030301010803" pitchFamily="18" charset="0"/>
                <a:cs typeface="Times New Roman" panose="02020603050405020304" pitchFamily="18" charset="0"/>
              </a:rPr>
              <a:t>Gestión de Hospitalización: </a:t>
            </a:r>
            <a:r>
              <a:rPr lang="es-CO" altLang="es-CO" sz="2000" dirty="0">
                <a:latin typeface="Garamond" panose="02020404030301010803" pitchFamily="18" charset="0"/>
                <a:cs typeface="Times New Roman" panose="02020603050405020304" pitchFamily="18" charset="0"/>
              </a:rPr>
              <a:t>Gestiona el ingreso, seguimiento, tratamientos y egreso de las mascotas hospitalizadas, garantizando la trazabilidad y continuidad del cuidado clínico.</a:t>
            </a:r>
          </a:p>
        </p:txBody>
      </p:sp>
      <p:pic>
        <p:nvPicPr>
          <p:cNvPr id="9221" name="Picture 5" descr="emilybezakwrites ebw emily bezak emily bezak writes lightbulb icon GIF">
            <a:extLst>
              <a:ext uri="{FF2B5EF4-FFF2-40B4-BE49-F238E27FC236}">
                <a16:creationId xmlns:a16="http://schemas.microsoft.com/office/drawing/2014/main" id="{113803A2-3A69-8B2B-2BD1-A8F089AF36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3576" y="1654287"/>
            <a:ext cx="4572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1830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79671" y="1113932"/>
            <a:ext cx="12032655" cy="1631216"/>
          </a:xfrm>
          <a:prstGeom prst="rect">
            <a:avLst/>
          </a:prstGeom>
          <a:noFill/>
        </p:spPr>
        <p:txBody>
          <a:bodyPr wrap="square" rtlCol="0">
            <a:spAutoFit/>
          </a:bodyPr>
          <a:lstStyle/>
          <a:p>
            <a:pPr algn="ctr">
              <a:defRPr/>
            </a:pPr>
            <a:r>
              <a:rPr lang="es-419" sz="5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ESPECIFICACIÓN DE REQUERIMIENTOS</a:t>
            </a:r>
            <a:endParaRPr kumimoji="0" lang="es-CO" sz="7200" b="1" u="none" strike="noStrike" kern="1200" cap="none" spc="0" normalizeH="0" baseline="0" noProof="0" dirty="0">
              <a:ln>
                <a:noFill/>
              </a:ln>
              <a:solidFill>
                <a:schemeClr val="bg1"/>
              </a:solidFill>
              <a:effectLst/>
              <a:uLnTx/>
              <a:uFillTx/>
              <a:latin typeface="WORK SANS BOLD ROMAN" pitchFamily="2" charset="77"/>
            </a:endParaRP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829014" y="2982418"/>
            <a:ext cx="1053396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Computer Laptop Sticker by Kyocera">
            <a:extLst>
              <a:ext uri="{FF2B5EF4-FFF2-40B4-BE49-F238E27FC236}">
                <a16:creationId xmlns:a16="http://schemas.microsoft.com/office/drawing/2014/main" id="{F6C1B3B9-651E-2BCE-C384-CE3FB23769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0400" y="2745148"/>
            <a:ext cx="4151193" cy="4151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190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iagrama de flujo: multidocumento 5">
            <a:extLst>
              <a:ext uri="{FF2B5EF4-FFF2-40B4-BE49-F238E27FC236}">
                <a16:creationId xmlns:a16="http://schemas.microsoft.com/office/drawing/2014/main" id="{F650E456-DE39-151B-3320-6E31DB57D18C}"/>
              </a:ext>
            </a:extLst>
          </p:cNvPr>
          <p:cNvSpPr/>
          <p:nvPr/>
        </p:nvSpPr>
        <p:spPr>
          <a:xfrm>
            <a:off x="404190" y="1557637"/>
            <a:ext cx="927653" cy="715618"/>
          </a:xfrm>
          <a:prstGeom prst="flowChartMultidocument">
            <a:avLst/>
          </a:prstGeom>
          <a:solidFill>
            <a:srgbClr val="00AD0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s-ES"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RN-001</a:t>
            </a:r>
            <a:endParaRPr lang="es-CO"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Diagrama de flujo: multidocumento 6">
            <a:extLst>
              <a:ext uri="{FF2B5EF4-FFF2-40B4-BE49-F238E27FC236}">
                <a16:creationId xmlns:a16="http://schemas.microsoft.com/office/drawing/2014/main" id="{62B60C44-45FB-EC57-AFB5-6297B7132B44}"/>
              </a:ext>
            </a:extLst>
          </p:cNvPr>
          <p:cNvSpPr/>
          <p:nvPr/>
        </p:nvSpPr>
        <p:spPr>
          <a:xfrm>
            <a:off x="404189" y="3730488"/>
            <a:ext cx="927653" cy="715618"/>
          </a:xfrm>
          <a:prstGeom prst="flowChartMultidocument">
            <a:avLst/>
          </a:prstGeom>
          <a:solidFill>
            <a:srgbClr val="00AD0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s-ES"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RN-003</a:t>
            </a:r>
            <a:endParaRPr lang="es-CO"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iagrama de flujo: multidocumento 7">
            <a:extLst>
              <a:ext uri="{FF2B5EF4-FFF2-40B4-BE49-F238E27FC236}">
                <a16:creationId xmlns:a16="http://schemas.microsoft.com/office/drawing/2014/main" id="{5EA90C86-CC37-71BF-2715-2C6E94168F28}"/>
              </a:ext>
            </a:extLst>
          </p:cNvPr>
          <p:cNvSpPr/>
          <p:nvPr/>
        </p:nvSpPr>
        <p:spPr>
          <a:xfrm>
            <a:off x="404189" y="2644062"/>
            <a:ext cx="927653" cy="715618"/>
          </a:xfrm>
          <a:prstGeom prst="flowChartMultidocument">
            <a:avLst/>
          </a:prstGeom>
          <a:solidFill>
            <a:srgbClr val="00AD0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s-ES"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RN-002</a:t>
            </a:r>
            <a:endParaRPr lang="es-CO"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iagrama de flujo: multidocumento 8">
            <a:extLst>
              <a:ext uri="{FF2B5EF4-FFF2-40B4-BE49-F238E27FC236}">
                <a16:creationId xmlns:a16="http://schemas.microsoft.com/office/drawing/2014/main" id="{224C7EC4-F6CA-1129-EC8D-49BE212285A1}"/>
              </a:ext>
            </a:extLst>
          </p:cNvPr>
          <p:cNvSpPr/>
          <p:nvPr/>
        </p:nvSpPr>
        <p:spPr>
          <a:xfrm>
            <a:off x="404189" y="4816914"/>
            <a:ext cx="927653" cy="715618"/>
          </a:xfrm>
          <a:prstGeom prst="flowChartMultidocument">
            <a:avLst/>
          </a:prstGeom>
          <a:solidFill>
            <a:srgbClr val="00AD0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s-ES"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RN-004</a:t>
            </a:r>
            <a:endParaRPr lang="es-CO"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4" name="CuadroTexto 13">
            <a:extLst>
              <a:ext uri="{FF2B5EF4-FFF2-40B4-BE49-F238E27FC236}">
                <a16:creationId xmlns:a16="http://schemas.microsoft.com/office/drawing/2014/main" id="{3E41F887-E167-A68A-4B2D-C8AD10C91590}"/>
              </a:ext>
            </a:extLst>
          </p:cNvPr>
          <p:cNvSpPr txBox="1"/>
          <p:nvPr/>
        </p:nvSpPr>
        <p:spPr>
          <a:xfrm>
            <a:off x="-79515" y="223393"/>
            <a:ext cx="11304103" cy="861774"/>
          </a:xfrm>
          <a:prstGeom prst="rect">
            <a:avLst/>
          </a:prstGeom>
          <a:noFill/>
        </p:spPr>
        <p:txBody>
          <a:bodyPr wrap="square">
            <a:spAutoFit/>
          </a:bodyPr>
          <a:lstStyle/>
          <a:p>
            <a:pPr algn="ctr">
              <a:defRPr/>
            </a:pPr>
            <a:r>
              <a:rPr lang="es-419" sz="5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REQUERIMIENTOS FUNCIONALES</a:t>
            </a:r>
            <a:endParaRPr kumimoji="0" lang="es-CO" sz="5000" b="1" u="none" strike="noStrike" kern="1200" cap="none" spc="0" normalizeH="0" baseline="0" noProof="0" dirty="0">
              <a:ln>
                <a:noFill/>
              </a:ln>
              <a:solidFill>
                <a:schemeClr val="bg1"/>
              </a:solidFill>
              <a:effectLst/>
              <a:uLnTx/>
              <a:uFillTx/>
              <a:latin typeface="WORK SANS BOLD ROMAN" pitchFamily="2" charset="77"/>
            </a:endParaRPr>
          </a:p>
        </p:txBody>
      </p:sp>
    </p:spTree>
    <p:extLst>
      <p:ext uri="{BB962C8B-B14F-4D97-AF65-F5344CB8AC3E}">
        <p14:creationId xmlns:p14="http://schemas.microsoft.com/office/powerpoint/2010/main" val="1337054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CuadroTexto 13">
            <a:extLst>
              <a:ext uri="{FF2B5EF4-FFF2-40B4-BE49-F238E27FC236}">
                <a16:creationId xmlns:a16="http://schemas.microsoft.com/office/drawing/2014/main" id="{3E41F887-E167-A68A-4B2D-C8AD10C91590}"/>
              </a:ext>
            </a:extLst>
          </p:cNvPr>
          <p:cNvSpPr txBox="1"/>
          <p:nvPr/>
        </p:nvSpPr>
        <p:spPr>
          <a:xfrm>
            <a:off x="119270" y="263150"/>
            <a:ext cx="11622156" cy="769441"/>
          </a:xfrm>
          <a:prstGeom prst="rect">
            <a:avLst/>
          </a:prstGeom>
          <a:noFill/>
        </p:spPr>
        <p:txBody>
          <a:bodyPr wrap="square">
            <a:spAutoFit/>
          </a:bodyPr>
          <a:lstStyle/>
          <a:p>
            <a:pPr algn="ctr">
              <a:defRPr/>
            </a:pPr>
            <a:r>
              <a:rPr lang="es-419" sz="44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REQUERIMIENTOS NO FUNCIONALES</a:t>
            </a:r>
            <a:endParaRPr kumimoji="0" lang="es-CO" sz="4400" b="1" u="none" strike="noStrike" kern="1200" cap="none" spc="0" normalizeH="0" baseline="0" noProof="0" dirty="0">
              <a:ln>
                <a:noFill/>
              </a:ln>
              <a:solidFill>
                <a:schemeClr val="bg1"/>
              </a:solidFill>
              <a:effectLst/>
              <a:uLnTx/>
              <a:uFillTx/>
              <a:latin typeface="WORK SANS BOLD ROMAN" pitchFamily="2" charset="77"/>
            </a:endParaRPr>
          </a:p>
        </p:txBody>
      </p:sp>
    </p:spTree>
    <p:extLst>
      <p:ext uri="{BB962C8B-B14F-4D97-AF65-F5344CB8AC3E}">
        <p14:creationId xmlns:p14="http://schemas.microsoft.com/office/powerpoint/2010/main" val="3001799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7D83F96-3DAF-A218-492D-0D9CDEF848D1}"/>
              </a:ext>
            </a:extLst>
          </p:cNvPr>
          <p:cNvSpPr txBox="1"/>
          <p:nvPr/>
        </p:nvSpPr>
        <p:spPr>
          <a:xfrm>
            <a:off x="1331843" y="1557637"/>
            <a:ext cx="6096000" cy="707886"/>
          </a:xfrm>
          <a:prstGeom prst="rect">
            <a:avLst/>
          </a:prstGeom>
          <a:noFill/>
        </p:spPr>
        <p:txBody>
          <a:bodyPr wrap="square">
            <a:spAutoFit/>
          </a:bodyPr>
          <a:lstStyle/>
          <a:p>
            <a:pPr marL="127635" algn="just">
              <a:spcBef>
                <a:spcPts val="530"/>
              </a:spcBef>
              <a:spcAft>
                <a:spcPts val="0"/>
              </a:spcAft>
            </a:pPr>
            <a:r>
              <a:rPr lang="es-ES" sz="2000" dirty="0">
                <a:latin typeface="Garamond" panose="02020404030301010803" pitchFamily="18" charset="0"/>
                <a:cs typeface="Times New Roman" panose="02020603050405020304" pitchFamily="18" charset="0"/>
              </a:rPr>
              <a:t>El sistema debe permitir registrar un nuevo cliente con campos obligatorios (nombre, documento, teléfono, etc.).</a:t>
            </a:r>
            <a:endParaRPr lang="es-CO" sz="2000" dirty="0">
              <a:latin typeface="Garamond" panose="02020404030301010803" pitchFamily="18" charset="0"/>
              <a:cs typeface="Times New Roman" panose="02020603050405020304" pitchFamily="18" charset="0"/>
            </a:endParaRPr>
          </a:p>
        </p:txBody>
      </p:sp>
      <p:sp>
        <p:nvSpPr>
          <p:cNvPr id="6" name="Diagrama de flujo: multidocumento 5">
            <a:extLst>
              <a:ext uri="{FF2B5EF4-FFF2-40B4-BE49-F238E27FC236}">
                <a16:creationId xmlns:a16="http://schemas.microsoft.com/office/drawing/2014/main" id="{F650E456-DE39-151B-3320-6E31DB57D18C}"/>
              </a:ext>
            </a:extLst>
          </p:cNvPr>
          <p:cNvSpPr/>
          <p:nvPr/>
        </p:nvSpPr>
        <p:spPr>
          <a:xfrm>
            <a:off x="404190" y="1557637"/>
            <a:ext cx="927653" cy="715618"/>
          </a:xfrm>
          <a:prstGeom prst="flowChartMultidocument">
            <a:avLst/>
          </a:prstGeom>
          <a:solidFill>
            <a:srgbClr val="00AD0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s-ES"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RN-001</a:t>
            </a:r>
            <a:endParaRPr lang="es-CO"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Diagrama de flujo: multidocumento 6">
            <a:extLst>
              <a:ext uri="{FF2B5EF4-FFF2-40B4-BE49-F238E27FC236}">
                <a16:creationId xmlns:a16="http://schemas.microsoft.com/office/drawing/2014/main" id="{62B60C44-45FB-EC57-AFB5-6297B7132B44}"/>
              </a:ext>
            </a:extLst>
          </p:cNvPr>
          <p:cNvSpPr/>
          <p:nvPr/>
        </p:nvSpPr>
        <p:spPr>
          <a:xfrm>
            <a:off x="404189" y="3730488"/>
            <a:ext cx="927653" cy="715618"/>
          </a:xfrm>
          <a:prstGeom prst="flowChartMultidocument">
            <a:avLst/>
          </a:prstGeom>
          <a:solidFill>
            <a:srgbClr val="00AD0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s-ES"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RN-003</a:t>
            </a:r>
            <a:endParaRPr lang="es-CO"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iagrama de flujo: multidocumento 7">
            <a:extLst>
              <a:ext uri="{FF2B5EF4-FFF2-40B4-BE49-F238E27FC236}">
                <a16:creationId xmlns:a16="http://schemas.microsoft.com/office/drawing/2014/main" id="{5EA90C86-CC37-71BF-2715-2C6E94168F28}"/>
              </a:ext>
            </a:extLst>
          </p:cNvPr>
          <p:cNvSpPr/>
          <p:nvPr/>
        </p:nvSpPr>
        <p:spPr>
          <a:xfrm>
            <a:off x="5632173" y="2664288"/>
            <a:ext cx="927653" cy="715618"/>
          </a:xfrm>
          <a:prstGeom prst="flowChartMultidocument">
            <a:avLst/>
          </a:prstGeom>
          <a:solidFill>
            <a:srgbClr val="00AD0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s-ES"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RN-002</a:t>
            </a:r>
            <a:endParaRPr lang="es-CO"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iagrama de flujo: multidocumento 8">
            <a:extLst>
              <a:ext uri="{FF2B5EF4-FFF2-40B4-BE49-F238E27FC236}">
                <a16:creationId xmlns:a16="http://schemas.microsoft.com/office/drawing/2014/main" id="{224C7EC4-F6CA-1129-EC8D-49BE212285A1}"/>
              </a:ext>
            </a:extLst>
          </p:cNvPr>
          <p:cNvSpPr/>
          <p:nvPr/>
        </p:nvSpPr>
        <p:spPr>
          <a:xfrm>
            <a:off x="5632173" y="4942554"/>
            <a:ext cx="927653" cy="715618"/>
          </a:xfrm>
          <a:prstGeom prst="flowChartMultidocument">
            <a:avLst/>
          </a:prstGeom>
          <a:solidFill>
            <a:srgbClr val="00AD0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s-ES"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RN-004</a:t>
            </a:r>
            <a:endParaRPr lang="es-CO" sz="1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8ACADA8F-5C15-3D32-DFBA-7342936BEB28}"/>
              </a:ext>
            </a:extLst>
          </p:cNvPr>
          <p:cNvSpPr txBox="1"/>
          <p:nvPr/>
        </p:nvSpPr>
        <p:spPr>
          <a:xfrm>
            <a:off x="6559827" y="2664288"/>
            <a:ext cx="5632173" cy="707886"/>
          </a:xfrm>
          <a:prstGeom prst="rect">
            <a:avLst/>
          </a:prstGeom>
          <a:noFill/>
        </p:spPr>
        <p:txBody>
          <a:bodyPr wrap="square">
            <a:spAutoFit/>
          </a:bodyPr>
          <a:lstStyle/>
          <a:p>
            <a:pPr marL="127635">
              <a:spcBef>
                <a:spcPts val="530"/>
              </a:spcBef>
              <a:spcAft>
                <a:spcPts val="0"/>
              </a:spcAft>
            </a:pPr>
            <a:r>
              <a:rPr lang="es-ES" sz="2000" dirty="0">
                <a:latin typeface="Garamond" panose="02020404030301010803" pitchFamily="18" charset="0"/>
                <a:cs typeface="Times New Roman" panose="02020603050405020304" pitchFamily="18" charset="0"/>
              </a:rPr>
              <a:t>El sistema debe permitir inactivar un cliente para evitar nuevas operaciones sin eliminar su historial.</a:t>
            </a:r>
            <a:endParaRPr lang="es-CO" sz="2000" dirty="0">
              <a:latin typeface="Garamond" panose="02020404030301010803"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0C1D8804-3479-F25C-7752-8E2F569F730D}"/>
              </a:ext>
            </a:extLst>
          </p:cNvPr>
          <p:cNvSpPr txBox="1"/>
          <p:nvPr/>
        </p:nvSpPr>
        <p:spPr>
          <a:xfrm>
            <a:off x="1331842" y="3677400"/>
            <a:ext cx="6539948" cy="707886"/>
          </a:xfrm>
          <a:prstGeom prst="rect">
            <a:avLst/>
          </a:prstGeom>
          <a:noFill/>
        </p:spPr>
        <p:txBody>
          <a:bodyPr wrap="square">
            <a:spAutoFit/>
          </a:bodyPr>
          <a:lstStyle/>
          <a:p>
            <a:pPr marL="127635">
              <a:spcBef>
                <a:spcPts val="530"/>
              </a:spcBef>
              <a:spcAft>
                <a:spcPts val="0"/>
              </a:spcAft>
            </a:pPr>
            <a:r>
              <a:rPr lang="es-ES" sz="2000" dirty="0">
                <a:latin typeface="Garamond" panose="02020404030301010803" pitchFamily="18" charset="0"/>
                <a:cs typeface="Times New Roman" panose="02020603050405020304" pitchFamily="18" charset="0"/>
              </a:rPr>
              <a:t>El sistema debe permitir registrar una mascota vinculada a un cliente (especie, raza, edad, peso, etc.).</a:t>
            </a:r>
            <a:endParaRPr lang="es-CO" sz="2000" dirty="0">
              <a:latin typeface="Garamond" panose="02020404030301010803" pitchFamily="18" charset="0"/>
              <a:cs typeface="Times New Roman" panose="02020603050405020304" pitchFamily="18" charset="0"/>
            </a:endParaRPr>
          </a:p>
        </p:txBody>
      </p:sp>
      <p:sp>
        <p:nvSpPr>
          <p:cNvPr id="12" name="CuadroTexto 11">
            <a:extLst>
              <a:ext uri="{FF2B5EF4-FFF2-40B4-BE49-F238E27FC236}">
                <a16:creationId xmlns:a16="http://schemas.microsoft.com/office/drawing/2014/main" id="{9E36E18A-1919-39DA-6CDC-6851BDC89640}"/>
              </a:ext>
            </a:extLst>
          </p:cNvPr>
          <p:cNvSpPr txBox="1"/>
          <p:nvPr/>
        </p:nvSpPr>
        <p:spPr>
          <a:xfrm>
            <a:off x="6559826" y="4914254"/>
            <a:ext cx="5632174" cy="707886"/>
          </a:xfrm>
          <a:prstGeom prst="rect">
            <a:avLst/>
          </a:prstGeom>
          <a:noFill/>
        </p:spPr>
        <p:txBody>
          <a:bodyPr wrap="square">
            <a:spAutoFit/>
          </a:bodyPr>
          <a:lstStyle/>
          <a:p>
            <a:r>
              <a:rPr lang="es-ES" sz="2000" dirty="0">
                <a:latin typeface="Garamond" panose="02020404030301010803" pitchFamily="18" charset="0"/>
                <a:cs typeface="Times New Roman" panose="02020603050405020304" pitchFamily="18" charset="0"/>
              </a:rPr>
              <a:t>El sistema debe mantener un historial clínico por mascota, con consultas, vacunas, tratamientos y notas.</a:t>
            </a:r>
            <a:endParaRPr lang="es-CO" sz="2000" dirty="0">
              <a:latin typeface="Garamond" panose="02020404030301010803" pitchFamily="18" charset="0"/>
              <a:cs typeface="Times New Roman" panose="02020603050405020304" pitchFamily="18" charset="0"/>
            </a:endParaRPr>
          </a:p>
        </p:txBody>
      </p:sp>
      <p:sp>
        <p:nvSpPr>
          <p:cNvPr id="14" name="CuadroTexto 13">
            <a:extLst>
              <a:ext uri="{FF2B5EF4-FFF2-40B4-BE49-F238E27FC236}">
                <a16:creationId xmlns:a16="http://schemas.microsoft.com/office/drawing/2014/main" id="{3E41F887-E167-A68A-4B2D-C8AD10C91590}"/>
              </a:ext>
            </a:extLst>
          </p:cNvPr>
          <p:cNvSpPr txBox="1"/>
          <p:nvPr/>
        </p:nvSpPr>
        <p:spPr>
          <a:xfrm>
            <a:off x="-79515" y="223393"/>
            <a:ext cx="11304103" cy="861774"/>
          </a:xfrm>
          <a:prstGeom prst="rect">
            <a:avLst/>
          </a:prstGeom>
          <a:noFill/>
        </p:spPr>
        <p:txBody>
          <a:bodyPr wrap="square">
            <a:spAutoFit/>
          </a:bodyPr>
          <a:lstStyle/>
          <a:p>
            <a:pPr algn="ctr">
              <a:defRPr/>
            </a:pPr>
            <a:r>
              <a:rPr lang="es-419" sz="5000" b="1" dirty="0">
                <a:solidFill>
                  <a:srgbClr val="4D4D4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REQUERIMIENTOS DEL SISTEMA</a:t>
            </a:r>
            <a:endParaRPr kumimoji="0" lang="es-CO" sz="5000" b="1" u="none" strike="noStrike" kern="1200" cap="none" spc="0" normalizeH="0" baseline="0" noProof="0" dirty="0">
              <a:ln>
                <a:noFill/>
              </a:ln>
              <a:solidFill>
                <a:schemeClr val="bg1"/>
              </a:solidFill>
              <a:effectLst/>
              <a:uLnTx/>
              <a:uFillTx/>
              <a:latin typeface="WORK SANS BOLD ROMAN" pitchFamily="2" charset="77"/>
            </a:endParaRPr>
          </a:p>
        </p:txBody>
      </p:sp>
    </p:spTree>
    <p:extLst>
      <p:ext uri="{BB962C8B-B14F-4D97-AF65-F5344CB8AC3E}">
        <p14:creationId xmlns:p14="http://schemas.microsoft.com/office/powerpoint/2010/main" val="41828208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626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9898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57923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Digital art gif. A cute version of Judy Hopps from Zootopia in her police uniform face palms and shakes her head disappointingly.">
            <a:extLst>
              <a:ext uri="{FF2B5EF4-FFF2-40B4-BE49-F238E27FC236}">
                <a16:creationId xmlns:a16="http://schemas.microsoft.com/office/drawing/2014/main" id="{659416AB-EE96-457D-B4EC-184C8051C08D}"/>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687817" y="3930591"/>
            <a:ext cx="33528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Dog Pet GIF by VetRéseau">
            <a:extLst>
              <a:ext uri="{FF2B5EF4-FFF2-40B4-BE49-F238E27FC236}">
                <a16:creationId xmlns:a16="http://schemas.microsoft.com/office/drawing/2014/main" id="{221B6E2D-58CA-47AA-8D86-D6905A6E18E9}"/>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0016455" y="2332839"/>
            <a:ext cx="1595306" cy="159530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at Help GIF by The Secret Life Of Pets">
            <a:extLst>
              <a:ext uri="{FF2B5EF4-FFF2-40B4-BE49-F238E27FC236}">
                <a16:creationId xmlns:a16="http://schemas.microsoft.com/office/drawing/2014/main" id="{D3E801FB-AF29-4D6D-B236-2F1CBF0AD213}"/>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545566" y="427839"/>
            <a:ext cx="33909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Animation Fire GIF by Tara Duncan">
            <a:extLst>
              <a:ext uri="{FF2B5EF4-FFF2-40B4-BE49-F238E27FC236}">
                <a16:creationId xmlns:a16="http://schemas.microsoft.com/office/drawing/2014/main" id="{C555D311-CEA3-789D-9E1B-AA14A389C1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0861" y="100012"/>
            <a:ext cx="33909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Animation Film GIF by Disney Pixar">
            <a:extLst>
              <a:ext uri="{FF2B5EF4-FFF2-40B4-BE49-F238E27FC236}">
                <a16:creationId xmlns:a16="http://schemas.microsoft.com/office/drawing/2014/main" id="{4B09324F-5F9C-24FB-3AAF-2342418F1DBA}"/>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3943735" y="3943021"/>
            <a:ext cx="4304529" cy="2404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69732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5500</TotalTime>
  <Words>910</Words>
  <Application>Microsoft Office PowerPoint</Application>
  <PresentationFormat>Panorámica</PresentationFormat>
  <Paragraphs>62</Paragraphs>
  <Slides>29</Slides>
  <Notes>0</Notes>
  <HiddenSlides>13</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29</vt:i4>
      </vt:variant>
    </vt:vector>
  </HeadingPairs>
  <TitlesOfParts>
    <vt:vector size="37" baseType="lpstr">
      <vt:lpstr>Arial</vt:lpstr>
      <vt:lpstr>Calibri</vt:lpstr>
      <vt:lpstr>Calibri Light</vt:lpstr>
      <vt:lpstr>Garamond</vt:lpstr>
      <vt:lpstr>Symbol</vt:lpstr>
      <vt:lpstr>Times New Roman</vt:lpstr>
      <vt:lpstr>WORK SANS BOLD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Alejandra Cortes</cp:lastModifiedBy>
  <cp:revision>87</cp:revision>
  <dcterms:created xsi:type="dcterms:W3CDTF">2020-10-01T23:51:28Z</dcterms:created>
  <dcterms:modified xsi:type="dcterms:W3CDTF">2026-03-04T17:21:24Z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